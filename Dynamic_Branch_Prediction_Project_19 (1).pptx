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66" r:id="rId2"/>
    <p:sldId id="356" r:id="rId3"/>
    <p:sldId id="352" r:id="rId4"/>
    <p:sldId id="353" r:id="rId5"/>
    <p:sldId id="358" r:id="rId6"/>
    <p:sldId id="359" r:id="rId7"/>
    <p:sldId id="354" r:id="rId8"/>
    <p:sldId id="360" r:id="rId9"/>
    <p:sldId id="361" r:id="rId10"/>
    <p:sldId id="362" r:id="rId11"/>
    <p:sldId id="363" r:id="rId12"/>
    <p:sldId id="367" r:id="rId13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00000"/>
    <a:srgbClr val="006600"/>
    <a:srgbClr val="FFFFCC"/>
    <a:srgbClr val="FF0000"/>
    <a:srgbClr val="000099"/>
    <a:srgbClr val="FFC3CD"/>
    <a:srgbClr val="003300"/>
    <a:srgbClr val="9AE69A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47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6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118738" y="8853866"/>
            <a:ext cx="774515" cy="259472"/>
          </a:xfrm>
          <a:prstGeom prst="rect">
            <a:avLst/>
          </a:prstGeom>
          <a:noFill/>
          <a:ln w="12700" cmpd="tri">
            <a:noFill/>
            <a:prstDash val="dash"/>
            <a:miter lim="800000"/>
            <a:headEnd/>
            <a:tailEnd/>
          </a:ln>
          <a:effectLst/>
        </p:spPr>
        <p:txBody>
          <a:bodyPr wrap="none" lIns="88844" tIns="45230" rIns="88844" bIns="45230">
            <a:spAutoFit/>
          </a:bodyPr>
          <a:lstStyle>
            <a:lvl1pPr defTabSz="8810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810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810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810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810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dirty="0">
                <a:latin typeface="Arial" panose="020B0604020202020204" pitchFamily="34" charset="0"/>
              </a:rPr>
              <a:t>Page </a:t>
            </a:r>
            <a:fld id="{B23EFD3F-644D-4A79-9842-5FBFD6BA2C7D}" type="slidenum">
              <a:rPr lang="en-US" altLang="en-US" sz="1200">
                <a:latin typeface="Arial" panose="020B0604020202020204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6894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18738" y="8853866"/>
            <a:ext cx="774515" cy="259472"/>
          </a:xfrm>
          <a:prstGeom prst="rect">
            <a:avLst/>
          </a:prstGeom>
          <a:noFill/>
          <a:ln w="12700" cmpd="tri">
            <a:noFill/>
            <a:prstDash val="dash"/>
            <a:miter lim="800000"/>
            <a:headEnd/>
            <a:tailEnd/>
          </a:ln>
          <a:effectLst/>
        </p:spPr>
        <p:txBody>
          <a:bodyPr wrap="none" lIns="88844" tIns="45230" rIns="88844" bIns="45230">
            <a:spAutoFit/>
          </a:bodyPr>
          <a:lstStyle>
            <a:lvl1pPr defTabSz="8810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810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810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810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810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dirty="0">
                <a:latin typeface="Arial" panose="020B0604020202020204" pitchFamily="34" charset="0"/>
              </a:rPr>
              <a:t>Page </a:t>
            </a:r>
            <a:fld id="{B37ED14D-5AC3-498C-8724-F661FAECF2CA}" type="slidenum">
              <a:rPr lang="en-US" altLang="en-US" sz="1200">
                <a:latin typeface="Arial" panose="020B0604020202020204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1536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19100" y="703263"/>
            <a:ext cx="6173788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144" y="4415790"/>
            <a:ext cx="5140112" cy="4183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074" tIns="45230" rIns="92074" bIns="452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9669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5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1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900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0800" y="1981200"/>
            <a:ext cx="4673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4673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3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06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62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1010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972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50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83600" y="609600"/>
            <a:ext cx="23876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20800" y="609600"/>
            <a:ext cx="69596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8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609600"/>
            <a:ext cx="9550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Slide Title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20800" y="1981200"/>
            <a:ext cx="9550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Body Text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1497857" y="6586538"/>
            <a:ext cx="370295" cy="274434"/>
          </a:xfrm>
          <a:prstGeom prst="rect">
            <a:avLst/>
          </a:prstGeom>
          <a:noFill/>
          <a:ln w="12700" cmpd="tri">
            <a:noFill/>
            <a:prstDash val="dash"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DBC0CD4E-B164-45E2-BB3D-30F40AD1B636}" type="slidenum">
              <a:rPr lang="en-US" altLang="en-US" sz="1200">
                <a:solidFill>
                  <a:srgbClr val="000099"/>
                </a:solidFill>
                <a:latin typeface="Arial" panose="020B0604020202020204" pitchFamily="34" charset="0"/>
              </a:rPr>
              <a:pPr algn="r"/>
              <a:t>‹#›</a:t>
            </a:fld>
            <a:endParaRPr lang="en-US" altLang="en-US" sz="1200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203200" y="6545264"/>
            <a:ext cx="5588000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000" dirty="0" smtClean="0">
                <a:solidFill>
                  <a:srgbClr val="000099"/>
                </a:solidFill>
                <a:latin typeface="Arial" charset="0"/>
              </a:rPr>
              <a:t>Computer </a:t>
            </a:r>
            <a:r>
              <a:rPr lang="en-US" sz="1000" dirty="0">
                <a:solidFill>
                  <a:srgbClr val="000099"/>
                </a:solidFill>
                <a:latin typeface="Arial" charset="0"/>
              </a:rPr>
              <a:t>Architecture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b="1">
          <a:solidFill>
            <a:schemeClr val="tx1"/>
          </a:solidFill>
          <a:latin typeface="+mn-lt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>
          <a:solidFill>
            <a:schemeClr val="tx1"/>
          </a:solidFill>
          <a:latin typeface="+mn-lt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24000"/>
            <a:ext cx="10363200" cy="1470025"/>
          </a:xfrm>
        </p:spPr>
        <p:txBody>
          <a:bodyPr/>
          <a:lstStyle/>
          <a:p>
            <a:r>
              <a:rPr lang="en-US" sz="4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Tournament Branch Predictor</a:t>
            </a:r>
            <a:endParaRPr lang="en-US" sz="4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EE524/CptS561 Advanced Computer </a:t>
            </a:r>
            <a:r>
              <a:rPr lang="en-US" dirty="0" smtClean="0"/>
              <a:t>Architecture</a:t>
            </a:r>
          </a:p>
          <a:p>
            <a:endParaRPr lang="en-US" dirty="0" smtClean="0"/>
          </a:p>
          <a:p>
            <a:r>
              <a:rPr lang="en-US" dirty="0" smtClean="0"/>
              <a:t>Fall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88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Initialization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19400" y="2286001"/>
            <a:ext cx="6172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01938" algn="r"/>
                <a:tab pos="3370263" algn="r"/>
                <a:tab pos="3776663" algn="r"/>
              </a:tabLst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	Hit	=	0</a:t>
            </a:r>
          </a:p>
          <a:p>
            <a:pPr>
              <a:tabLst>
                <a:tab pos="2801938" algn="r"/>
                <a:tab pos="3370263" algn="r"/>
                <a:tab pos="3776663" algn="r"/>
              </a:tabLst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	Miss	=	0</a:t>
            </a:r>
          </a:p>
          <a:p>
            <a:pPr>
              <a:tabLst>
                <a:tab pos="2801938" algn="r"/>
                <a:tab pos="3370263" algn="r"/>
                <a:tab pos="3776663" algn="r"/>
              </a:tabLst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	Right prediction 	=	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0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tabLst>
                <a:tab pos="2801938" algn="r"/>
                <a:tab pos="3370263" algn="r"/>
                <a:tab pos="3776663" algn="r"/>
              </a:tabLst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	Wrong prediction	=	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0</a:t>
            </a:r>
          </a:p>
          <a:p>
            <a:pPr>
              <a:tabLst>
                <a:tab pos="2801938" algn="r"/>
                <a:tab pos="3370263" algn="r"/>
                <a:tab pos="3776663" algn="r"/>
              </a:tabLst>
            </a:pP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	Wrong Address	= 	0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tabLst>
                <a:tab pos="2801938" algn="r"/>
                <a:tab pos="3370263" algn="r"/>
                <a:tab pos="3776663" algn="r"/>
              </a:tabLst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	Collisions 	=	0</a:t>
            </a:r>
          </a:p>
        </p:txBody>
      </p:sp>
    </p:spTree>
    <p:extLst>
      <p:ext uri="{BB962C8B-B14F-4D97-AF65-F5344CB8AC3E}">
        <p14:creationId xmlns:p14="http://schemas.microsoft.com/office/powerpoint/2010/main" val="757520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569" y="541887"/>
            <a:ext cx="7162800" cy="1143000"/>
          </a:xfrm>
        </p:spPr>
        <p:txBody>
          <a:bodyPr/>
          <a:lstStyle/>
          <a:p>
            <a:pPr algn="l"/>
            <a:r>
              <a:rPr lang="en-US" dirty="0" smtClean="0"/>
              <a:t>Step 1 (stage IF)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797047" y="2049724"/>
            <a:ext cx="133655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nl-NL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Trace</a:t>
            </a:r>
          </a:p>
          <a:p>
            <a:pPr eaLnBrk="0" hangingPunct="0"/>
            <a:r>
              <a:rPr lang="nl-NL" sz="1600" b="1" dirty="0">
                <a:solidFill>
                  <a:srgbClr val="FF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4001c4 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nl-NL" sz="16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4202b0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4202b4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7926" y="2065886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PC_current = 4001c4</a:t>
            </a:r>
          </a:p>
          <a:p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PC_next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   =   	4202b0</a:t>
            </a:r>
          </a:p>
        </p:txBody>
      </p:sp>
      <p:sp>
        <p:nvSpPr>
          <p:cNvPr id="7" name="Line 1033"/>
          <p:cNvSpPr>
            <a:spLocks noChangeShapeType="1"/>
          </p:cNvSpPr>
          <p:nvPr/>
        </p:nvSpPr>
        <p:spPr bwMode="auto">
          <a:xfrm>
            <a:off x="4038600" y="3886200"/>
            <a:ext cx="4038600" cy="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" name="AutoShape 1028"/>
          <p:cNvSpPr>
            <a:spLocks noChangeArrowheads="1"/>
          </p:cNvSpPr>
          <p:nvPr/>
        </p:nvSpPr>
        <p:spPr bwMode="auto">
          <a:xfrm>
            <a:off x="4495800" y="3200400"/>
            <a:ext cx="2971800" cy="1371600"/>
          </a:xfrm>
          <a:prstGeom prst="flowChartDecision">
            <a:avLst/>
          </a:prstGeom>
          <a:solidFill>
            <a:schemeClr val="bg1"/>
          </a:solidFill>
          <a:ln w="28575">
            <a:solidFill>
              <a:srgbClr val="DC008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9" name="Text Box 1029"/>
          <p:cNvSpPr txBox="1">
            <a:spLocks noChangeArrowheads="1"/>
          </p:cNvSpPr>
          <p:nvPr/>
        </p:nvSpPr>
        <p:spPr bwMode="auto">
          <a:xfrm>
            <a:off x="5029200" y="3505201"/>
            <a:ext cx="1905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/>
              <a:t>Is PC_current in BTB ?</a:t>
            </a:r>
          </a:p>
        </p:txBody>
      </p:sp>
      <p:sp>
        <p:nvSpPr>
          <p:cNvPr id="10" name="Line 1034"/>
          <p:cNvSpPr>
            <a:spLocks noChangeShapeType="1"/>
          </p:cNvSpPr>
          <p:nvPr/>
        </p:nvSpPr>
        <p:spPr bwMode="auto">
          <a:xfrm>
            <a:off x="4038600" y="3886200"/>
            <a:ext cx="0" cy="12954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Line 1035"/>
          <p:cNvSpPr>
            <a:spLocks noChangeShapeType="1"/>
          </p:cNvSpPr>
          <p:nvPr/>
        </p:nvSpPr>
        <p:spPr bwMode="auto">
          <a:xfrm>
            <a:off x="8077200" y="3886200"/>
            <a:ext cx="0" cy="12954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" name="Text Box 1036"/>
          <p:cNvSpPr txBox="1">
            <a:spLocks noChangeArrowheads="1"/>
          </p:cNvSpPr>
          <p:nvPr/>
        </p:nvSpPr>
        <p:spPr bwMode="auto">
          <a:xfrm>
            <a:off x="3810000" y="34290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No</a:t>
            </a:r>
          </a:p>
        </p:txBody>
      </p:sp>
      <p:sp>
        <p:nvSpPr>
          <p:cNvPr id="13" name="Text Box 1037"/>
          <p:cNvSpPr txBox="1">
            <a:spLocks noChangeArrowheads="1"/>
          </p:cNvSpPr>
          <p:nvPr/>
        </p:nvSpPr>
        <p:spPr bwMode="auto">
          <a:xfrm>
            <a:off x="7391400" y="34290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0" y="4267201"/>
            <a:ext cx="1524000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Hit=Hit+1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500" y="4247066"/>
            <a:ext cx="3429000" cy="120032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Search BTB location: 113</a:t>
            </a:r>
          </a:p>
          <a:p>
            <a:pPr algn="ctr"/>
            <a:r>
              <a:rPr lang="en-US" dirty="0"/>
              <a:t>AND</a:t>
            </a:r>
          </a:p>
          <a:p>
            <a:pPr algn="ctr"/>
            <a:r>
              <a:rPr lang="en-US" dirty="0"/>
              <a:t>BTB.PC = </a:t>
            </a:r>
            <a:r>
              <a:rPr lang="en-US" dirty="0" err="1"/>
              <a:t>PC_current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638229"/>
              </p:ext>
            </p:extLst>
          </p:nvPr>
        </p:nvGraphicFramePr>
        <p:xfrm>
          <a:off x="6324600" y="392639"/>
          <a:ext cx="5374640" cy="25069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7322435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697590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0344524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052781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487676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0151676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668102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0161905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383343853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Global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871286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PC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Target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Local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Seltr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09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01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31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16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93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077637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933700" y="5257800"/>
            <a:ext cx="220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j-lt"/>
              </a:rPr>
              <a:t>Step </a:t>
            </a:r>
            <a:r>
              <a:rPr lang="en-US" sz="3600" b="1" dirty="0" smtClean="0">
                <a:solidFill>
                  <a:srgbClr val="FF0000"/>
                </a:solidFill>
                <a:latin typeface="+mj-lt"/>
              </a:rPr>
              <a:t>2.A</a:t>
            </a:r>
            <a:endParaRPr lang="en-US" sz="3600" b="1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9600"/>
            <a:ext cx="9144000" cy="1143000"/>
          </a:xfrm>
        </p:spPr>
        <p:txBody>
          <a:bodyPr/>
          <a:lstStyle/>
          <a:p>
            <a:r>
              <a:rPr lang="en-US" dirty="0" smtClean="0"/>
              <a:t>Step </a:t>
            </a:r>
            <a:r>
              <a:rPr lang="en-US" dirty="0" smtClean="0"/>
              <a:t>2.A </a:t>
            </a:r>
            <a:r>
              <a:rPr lang="en-US" dirty="0" smtClean="0"/>
              <a:t>(ID stage –No found in BTB)</a:t>
            </a:r>
            <a:endParaRPr lang="en-US" dirty="0"/>
          </a:p>
        </p:txBody>
      </p:sp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3581400" y="2286000"/>
            <a:ext cx="4343400" cy="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" name="AutoShape 13"/>
          <p:cNvSpPr>
            <a:spLocks noChangeArrowheads="1"/>
          </p:cNvSpPr>
          <p:nvPr/>
        </p:nvSpPr>
        <p:spPr bwMode="auto">
          <a:xfrm>
            <a:off x="4038600" y="1524000"/>
            <a:ext cx="2971800" cy="1524000"/>
          </a:xfrm>
          <a:prstGeom prst="flowChartDecision">
            <a:avLst/>
          </a:prstGeom>
          <a:solidFill>
            <a:schemeClr val="bg1"/>
          </a:solidFill>
          <a:ln w="28575">
            <a:solidFill>
              <a:srgbClr val="DC008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4343400" y="1828801"/>
            <a:ext cx="236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dirty="0"/>
              <a:t>Is instruction a </a:t>
            </a:r>
          </a:p>
          <a:p>
            <a:pPr algn="ctr">
              <a:spcBef>
                <a:spcPct val="50000"/>
              </a:spcBef>
            </a:pPr>
            <a:r>
              <a:rPr lang="en-US" altLang="en-US" sz="2000" b="1" dirty="0">
                <a:solidFill>
                  <a:schemeClr val="hlink"/>
                </a:solidFill>
              </a:rPr>
              <a:t>taken</a:t>
            </a:r>
            <a:r>
              <a:rPr lang="en-US" altLang="en-US" sz="2000" dirty="0"/>
              <a:t> branch?</a:t>
            </a:r>
          </a:p>
        </p:txBody>
      </p:sp>
      <p:sp>
        <p:nvSpPr>
          <p:cNvPr id="6" name="Line 15"/>
          <p:cNvSpPr>
            <a:spLocks noChangeShapeType="1"/>
          </p:cNvSpPr>
          <p:nvPr/>
        </p:nvSpPr>
        <p:spPr bwMode="auto">
          <a:xfrm>
            <a:off x="3581400" y="2286000"/>
            <a:ext cx="0" cy="6858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505200" y="1752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No</a:t>
            </a: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6934200" y="1752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Yes</a:t>
            </a:r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2590800" y="2971800"/>
            <a:ext cx="1295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800" b="1" dirty="0">
                <a:solidFill>
                  <a:srgbClr val="006600"/>
                </a:solidFill>
              </a:rPr>
              <a:t>Normal Instruction execution</a:t>
            </a:r>
          </a:p>
        </p:txBody>
      </p:sp>
      <p:sp>
        <p:nvSpPr>
          <p:cNvPr id="10" name="Line 16"/>
          <p:cNvSpPr>
            <a:spLocks noChangeShapeType="1"/>
          </p:cNvSpPr>
          <p:nvPr/>
        </p:nvSpPr>
        <p:spPr bwMode="auto">
          <a:xfrm>
            <a:off x="7924800" y="2286000"/>
            <a:ext cx="0" cy="25908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077200" y="2819401"/>
            <a:ext cx="2133600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Miss=Miss+1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0" y="3124201"/>
            <a:ext cx="3429000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PC_next</a:t>
            </a:r>
            <a:r>
              <a:rPr lang="en-US" dirty="0"/>
              <a:t> not equal </a:t>
            </a:r>
          </a:p>
          <a:p>
            <a:pPr algn="ctr"/>
            <a:r>
              <a:rPr lang="en-US" dirty="0"/>
              <a:t>to  </a:t>
            </a:r>
            <a:r>
              <a:rPr lang="en-US" b="1" dirty="0">
                <a:solidFill>
                  <a:srgbClr val="FF0000"/>
                </a:solidFill>
              </a:rPr>
              <a:t>PC_current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+ 4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1000" y="3962401"/>
            <a:ext cx="3886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/>
            <a:r>
              <a:rPr lang="nl-NL" b="1" dirty="0">
                <a:solidFill>
                  <a:srgbClr val="FF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PC_current= 4001c4 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lvl="0" eaLnBrk="0" hangingPunct="0"/>
            <a:r>
              <a:rPr lang="nl-NL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PC_next =   4202b0 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62800" y="5033667"/>
            <a:ext cx="220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j-lt"/>
              </a:rPr>
              <a:t>Step </a:t>
            </a:r>
            <a:r>
              <a:rPr lang="en-US" sz="3600" b="1" dirty="0" smtClean="0">
                <a:solidFill>
                  <a:srgbClr val="FF0000"/>
                </a:solidFill>
                <a:latin typeface="+mj-lt"/>
              </a:rPr>
              <a:t>3.A</a:t>
            </a:r>
            <a:endParaRPr lang="en-US" sz="36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221915" y="1885140"/>
            <a:ext cx="114028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nl-NL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Trace</a:t>
            </a:r>
          </a:p>
          <a:p>
            <a:pPr eaLnBrk="0" hangingPunct="0"/>
            <a:r>
              <a:rPr lang="nl-NL" sz="1600" b="1" dirty="0">
                <a:solidFill>
                  <a:srgbClr val="FF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4001c4 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nl-NL" sz="16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4202b0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4202b4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</a:t>
            </a:r>
            <a:r>
              <a:rPr lang="en-US" dirty="0" smtClean="0"/>
              <a:t>3.A </a:t>
            </a:r>
            <a:r>
              <a:rPr lang="en-US" dirty="0" smtClean="0"/>
              <a:t>(EX Stage)</a:t>
            </a:r>
            <a:endParaRPr lang="en-US" dirty="0"/>
          </a:p>
        </p:txBody>
      </p:sp>
      <p:sp>
        <p:nvSpPr>
          <p:cNvPr id="3" name="Text Box 22"/>
          <p:cNvSpPr txBox="1">
            <a:spLocks noChangeArrowheads="1"/>
          </p:cNvSpPr>
          <p:nvPr/>
        </p:nvSpPr>
        <p:spPr bwMode="auto">
          <a:xfrm>
            <a:off x="609600" y="1981200"/>
            <a:ext cx="4572000" cy="1831271"/>
          </a:xfrm>
          <a:prstGeom prst="rect">
            <a:avLst/>
          </a:prstGeom>
          <a:solidFill>
            <a:schemeClr val="bg1"/>
          </a:solidFill>
          <a:ln w="19050">
            <a:solidFill>
              <a:schemeClr val="hlink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1" dirty="0">
                <a:solidFill>
                  <a:srgbClr val="006600"/>
                </a:solidFill>
              </a:rPr>
              <a:t>Enter branch address and next PC into BTB</a:t>
            </a:r>
          </a:p>
          <a:p>
            <a:pPr>
              <a:spcBef>
                <a:spcPct val="50000"/>
              </a:spcBef>
            </a:pPr>
            <a:r>
              <a:rPr lang="en-US" altLang="en-US" sz="1800" b="1" dirty="0">
                <a:solidFill>
                  <a:srgbClr val="FF0000"/>
                </a:solidFill>
              </a:rPr>
              <a:t>If entry 113 in use then collision=collision+1</a:t>
            </a:r>
          </a:p>
          <a:p>
            <a:pPr>
              <a:spcBef>
                <a:spcPct val="50000"/>
              </a:spcBef>
            </a:pPr>
            <a:r>
              <a:rPr lang="en-US" altLang="en-US" sz="1800" b="1" dirty="0" smtClean="0">
                <a:solidFill>
                  <a:srgbClr val="006600"/>
                </a:solidFill>
              </a:rPr>
              <a:t>Entry</a:t>
            </a:r>
            <a:r>
              <a:rPr lang="en-US" altLang="en-US" sz="1800" b="1" dirty="0">
                <a:solidFill>
                  <a:srgbClr val="006600"/>
                </a:solidFill>
              </a:rPr>
              <a:t>: </a:t>
            </a:r>
            <a:r>
              <a:rPr lang="en-US" sz="1800" b="1" dirty="0">
                <a:solidFill>
                  <a:srgbClr val="FF0000"/>
                </a:solidFill>
              </a:rPr>
              <a:t>113 </a:t>
            </a:r>
            <a:r>
              <a:rPr lang="en-US" altLang="en-US" sz="1800" b="1" dirty="0">
                <a:solidFill>
                  <a:srgbClr val="006600"/>
                </a:solidFill>
              </a:rPr>
              <a:t>(only one place)</a:t>
            </a:r>
          </a:p>
          <a:p>
            <a:pPr>
              <a:spcBef>
                <a:spcPts val="300"/>
              </a:spcBef>
            </a:pPr>
            <a:r>
              <a:rPr lang="en-US" altLang="en-US" sz="1800" b="1" dirty="0">
                <a:solidFill>
                  <a:srgbClr val="006600"/>
                </a:solidFill>
              </a:rPr>
              <a:t>PC: </a:t>
            </a:r>
            <a:r>
              <a:rPr lang="en-US" altLang="en-US" sz="1800" b="1" dirty="0">
                <a:solidFill>
                  <a:srgbClr val="FF0000"/>
                </a:solidFill>
              </a:rPr>
              <a:t>4001c4</a:t>
            </a:r>
            <a:r>
              <a:rPr lang="en-US" altLang="en-US" sz="1800" b="1" dirty="0">
                <a:solidFill>
                  <a:srgbClr val="006600"/>
                </a:solidFill>
              </a:rPr>
              <a:t>      Target: </a:t>
            </a:r>
            <a:r>
              <a:rPr lang="en-US" altLang="en-US" sz="1800" b="1" dirty="0">
                <a:solidFill>
                  <a:srgbClr val="FF0000"/>
                </a:solidFill>
              </a:rPr>
              <a:t>4202b0</a:t>
            </a:r>
            <a:r>
              <a:rPr lang="en-US" altLang="en-US" sz="1800" b="1" dirty="0">
                <a:solidFill>
                  <a:srgbClr val="006600"/>
                </a:solidFill>
              </a:rPr>
              <a:t>   </a:t>
            </a:r>
          </a:p>
          <a:p>
            <a:pPr>
              <a:spcBef>
                <a:spcPts val="300"/>
              </a:spcBef>
            </a:pPr>
            <a:r>
              <a:rPr lang="en-US" altLang="en-US" sz="1800" b="1" dirty="0">
                <a:solidFill>
                  <a:srgbClr val="006600"/>
                </a:solidFill>
              </a:rPr>
              <a:t>Prediction: </a:t>
            </a:r>
            <a:r>
              <a:rPr lang="en-US" altLang="en-US" sz="1800" b="1" dirty="0">
                <a:solidFill>
                  <a:srgbClr val="FF0000"/>
                </a:solidFill>
              </a:rPr>
              <a:t>Taken (</a:t>
            </a:r>
            <a:r>
              <a:rPr lang="en-US" altLang="en-US" sz="1800" b="1">
                <a:solidFill>
                  <a:srgbClr val="FF0000"/>
                </a:solidFill>
              </a:rPr>
              <a:t>strong</a:t>
            </a:r>
            <a:r>
              <a:rPr lang="en-US" altLang="en-US" sz="1800" b="1" smtClean="0">
                <a:solidFill>
                  <a:srgbClr val="FF0000"/>
                </a:solidFill>
              </a:rPr>
              <a:t>)</a:t>
            </a:r>
            <a:endParaRPr lang="en-US" altLang="en-US" sz="1800" b="1" dirty="0" smtClean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9002"/>
              </p:ext>
            </p:extLst>
          </p:nvPr>
        </p:nvGraphicFramePr>
        <p:xfrm>
          <a:off x="5257800" y="2133600"/>
          <a:ext cx="5374640" cy="33959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7322435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697590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0344524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052781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487676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0151676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668102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0161905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383343853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Global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871286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PC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Target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Local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Seltr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09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01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4001c4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4202b0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31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16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93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07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Global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History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53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519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3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404334"/>
              </p:ext>
            </p:extLst>
          </p:nvPr>
        </p:nvGraphicFramePr>
        <p:xfrm>
          <a:off x="6453843" y="375920"/>
          <a:ext cx="5374640" cy="33959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7322435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697590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0344524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052781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487676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0151676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668102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0161905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383343853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Global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871286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PC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Target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Local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Seltr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09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01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rgbClr val="C00000"/>
                          </a:solidFill>
                          <a:latin typeface="+mn-lt"/>
                        </a:rPr>
                        <a:t>4001c4</a:t>
                      </a:r>
                      <a:endParaRPr lang="en-US" sz="1400" b="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6600"/>
                          </a:solidFill>
                          <a:latin typeface="+mn-lt"/>
                        </a:rPr>
                        <a:t>4202b0</a:t>
                      </a:r>
                      <a:endParaRPr lang="en-US" sz="1400" b="1" dirty="0">
                        <a:solidFill>
                          <a:srgbClr val="0066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rgbClr val="C00000"/>
                          </a:solidFill>
                          <a:latin typeface="+mn-lt"/>
                        </a:rPr>
                        <a:t>11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1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16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93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07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Global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History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53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51938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569" y="541887"/>
            <a:ext cx="7162800" cy="1143000"/>
          </a:xfrm>
        </p:spPr>
        <p:txBody>
          <a:bodyPr/>
          <a:lstStyle/>
          <a:p>
            <a:pPr algn="l"/>
            <a:r>
              <a:rPr lang="en-US" dirty="0" smtClean="0"/>
              <a:t>Step 1 (stage IF)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797047" y="2049724"/>
            <a:ext cx="133655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nl-NL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Trace</a:t>
            </a:r>
          </a:p>
          <a:p>
            <a:pPr eaLnBrk="0" hangingPunct="0"/>
            <a:r>
              <a:rPr lang="nl-NL" sz="1600" b="1" dirty="0">
                <a:solidFill>
                  <a:srgbClr val="FF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4001c4 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nl-NL" sz="16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4202b0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4202b4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7926" y="2065886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PC_current = 4001c4</a:t>
            </a:r>
          </a:p>
          <a:p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PC_next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   =   	4202b0</a:t>
            </a:r>
          </a:p>
        </p:txBody>
      </p:sp>
      <p:sp>
        <p:nvSpPr>
          <p:cNvPr id="7" name="Line 1033"/>
          <p:cNvSpPr>
            <a:spLocks noChangeShapeType="1"/>
          </p:cNvSpPr>
          <p:nvPr/>
        </p:nvSpPr>
        <p:spPr bwMode="auto">
          <a:xfrm>
            <a:off x="3352800" y="4038600"/>
            <a:ext cx="4038600" cy="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" name="AutoShape 1028"/>
          <p:cNvSpPr>
            <a:spLocks noChangeArrowheads="1"/>
          </p:cNvSpPr>
          <p:nvPr/>
        </p:nvSpPr>
        <p:spPr bwMode="auto">
          <a:xfrm>
            <a:off x="3810000" y="3352800"/>
            <a:ext cx="2971800" cy="1371600"/>
          </a:xfrm>
          <a:prstGeom prst="flowChartDecision">
            <a:avLst/>
          </a:prstGeom>
          <a:solidFill>
            <a:schemeClr val="bg1"/>
          </a:solidFill>
          <a:ln w="28575">
            <a:solidFill>
              <a:srgbClr val="DC008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9" name="Text Box 1029"/>
          <p:cNvSpPr txBox="1">
            <a:spLocks noChangeArrowheads="1"/>
          </p:cNvSpPr>
          <p:nvPr/>
        </p:nvSpPr>
        <p:spPr bwMode="auto">
          <a:xfrm>
            <a:off x="4343400" y="3657601"/>
            <a:ext cx="1905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/>
              <a:t>Is PC_current in BTB ?</a:t>
            </a:r>
          </a:p>
        </p:txBody>
      </p:sp>
      <p:sp>
        <p:nvSpPr>
          <p:cNvPr id="10" name="Line 1034"/>
          <p:cNvSpPr>
            <a:spLocks noChangeShapeType="1"/>
          </p:cNvSpPr>
          <p:nvPr/>
        </p:nvSpPr>
        <p:spPr bwMode="auto">
          <a:xfrm>
            <a:off x="3352800" y="4038600"/>
            <a:ext cx="0" cy="12954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Line 1035"/>
          <p:cNvSpPr>
            <a:spLocks noChangeShapeType="1"/>
          </p:cNvSpPr>
          <p:nvPr/>
        </p:nvSpPr>
        <p:spPr bwMode="auto">
          <a:xfrm>
            <a:off x="7391400" y="4038600"/>
            <a:ext cx="0" cy="12954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" name="Text Box 1036"/>
          <p:cNvSpPr txBox="1">
            <a:spLocks noChangeArrowheads="1"/>
          </p:cNvSpPr>
          <p:nvPr/>
        </p:nvSpPr>
        <p:spPr bwMode="auto">
          <a:xfrm>
            <a:off x="31242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No</a:t>
            </a:r>
          </a:p>
        </p:txBody>
      </p:sp>
      <p:sp>
        <p:nvSpPr>
          <p:cNvPr id="13" name="Text Box 1037"/>
          <p:cNvSpPr txBox="1">
            <a:spLocks noChangeArrowheads="1"/>
          </p:cNvSpPr>
          <p:nvPr/>
        </p:nvSpPr>
        <p:spPr bwMode="auto">
          <a:xfrm>
            <a:off x="67056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7600" y="4428696"/>
            <a:ext cx="1524000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Hit=Hit+1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700" y="4399466"/>
            <a:ext cx="3429000" cy="120032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Search BTB location: 113</a:t>
            </a:r>
          </a:p>
          <a:p>
            <a:pPr algn="ctr"/>
            <a:r>
              <a:rPr lang="en-US" dirty="0"/>
              <a:t>AND</a:t>
            </a:r>
          </a:p>
          <a:p>
            <a:pPr algn="ctr"/>
            <a:r>
              <a:rPr lang="en-US" dirty="0"/>
              <a:t>BTB.PC = </a:t>
            </a:r>
            <a:r>
              <a:rPr lang="en-US" dirty="0" err="1"/>
              <a:t>PC_current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220200" y="4014152"/>
            <a:ext cx="25146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Prediction: </a:t>
            </a:r>
            <a:r>
              <a:rPr lang="en-US" dirty="0" smtClean="0">
                <a:solidFill>
                  <a:srgbClr val="C00000"/>
                </a:solidFill>
              </a:rPr>
              <a:t>TAKEN</a:t>
            </a:r>
            <a:r>
              <a:rPr lang="en-US" dirty="0" smtClean="0"/>
              <a:t> (local)</a:t>
            </a:r>
          </a:p>
          <a:p>
            <a:r>
              <a:rPr lang="en-US" dirty="0" smtClean="0"/>
              <a:t>Target PC: 4202b0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286500" y="5611947"/>
            <a:ext cx="220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j-lt"/>
              </a:rPr>
              <a:t>Step </a:t>
            </a:r>
            <a:r>
              <a:rPr lang="en-US" sz="3600" b="1" dirty="0" smtClean="0">
                <a:solidFill>
                  <a:srgbClr val="FF0000"/>
                </a:solidFill>
                <a:latin typeface="+mj-lt"/>
              </a:rPr>
              <a:t>2.B</a:t>
            </a:r>
            <a:endParaRPr lang="en-US" sz="36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5920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609600"/>
            <a:ext cx="7772400" cy="1143000"/>
          </a:xfrm>
        </p:spPr>
        <p:txBody>
          <a:bodyPr/>
          <a:lstStyle/>
          <a:p>
            <a:r>
              <a:rPr lang="en-US" dirty="0" smtClean="0"/>
              <a:t>Step </a:t>
            </a:r>
            <a:r>
              <a:rPr lang="en-US" dirty="0" smtClean="0"/>
              <a:t>2.B </a:t>
            </a:r>
            <a:r>
              <a:rPr lang="en-US" dirty="0" smtClean="0"/>
              <a:t>(ID stage –BTB found)</a:t>
            </a:r>
            <a:endParaRPr lang="en-US" dirty="0"/>
          </a:p>
        </p:txBody>
      </p:sp>
      <p:sp>
        <p:nvSpPr>
          <p:cNvPr id="16" name="Line 2059"/>
          <p:cNvSpPr>
            <a:spLocks noChangeShapeType="1"/>
          </p:cNvSpPr>
          <p:nvPr/>
        </p:nvSpPr>
        <p:spPr bwMode="auto">
          <a:xfrm>
            <a:off x="3962400" y="2209800"/>
            <a:ext cx="5105400" cy="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AutoShape 2060"/>
          <p:cNvSpPr>
            <a:spLocks noChangeArrowheads="1"/>
          </p:cNvSpPr>
          <p:nvPr/>
        </p:nvSpPr>
        <p:spPr bwMode="auto">
          <a:xfrm>
            <a:off x="4419600" y="1600200"/>
            <a:ext cx="2971800" cy="1219200"/>
          </a:xfrm>
          <a:prstGeom prst="flowChartDecision">
            <a:avLst/>
          </a:prstGeom>
          <a:solidFill>
            <a:schemeClr val="bg1"/>
          </a:solidFill>
          <a:ln w="28575">
            <a:solidFill>
              <a:srgbClr val="DC008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8" name="Text Box 2061"/>
          <p:cNvSpPr txBox="1">
            <a:spLocks noChangeArrowheads="1"/>
          </p:cNvSpPr>
          <p:nvPr/>
        </p:nvSpPr>
        <p:spPr bwMode="auto">
          <a:xfrm>
            <a:off x="4800600" y="19050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/>
              <a:t>Right prediction?</a:t>
            </a:r>
          </a:p>
        </p:txBody>
      </p:sp>
      <p:sp>
        <p:nvSpPr>
          <p:cNvPr id="19" name="Text Box 2063"/>
          <p:cNvSpPr txBox="1">
            <a:spLocks noChangeArrowheads="1"/>
          </p:cNvSpPr>
          <p:nvPr/>
        </p:nvSpPr>
        <p:spPr bwMode="auto">
          <a:xfrm>
            <a:off x="3886200" y="1676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No</a:t>
            </a:r>
          </a:p>
        </p:txBody>
      </p:sp>
      <p:sp>
        <p:nvSpPr>
          <p:cNvPr id="20" name="Text Box 2064"/>
          <p:cNvSpPr txBox="1">
            <a:spLocks noChangeArrowheads="1"/>
          </p:cNvSpPr>
          <p:nvPr/>
        </p:nvSpPr>
        <p:spPr bwMode="auto">
          <a:xfrm>
            <a:off x="7086600" y="1752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Yes</a:t>
            </a:r>
          </a:p>
        </p:txBody>
      </p:sp>
      <p:sp>
        <p:nvSpPr>
          <p:cNvPr id="23" name="Line 2074"/>
          <p:cNvSpPr>
            <a:spLocks noChangeShapeType="1"/>
          </p:cNvSpPr>
          <p:nvPr/>
        </p:nvSpPr>
        <p:spPr bwMode="auto">
          <a:xfrm>
            <a:off x="3962400" y="2209800"/>
            <a:ext cx="0" cy="40386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" name="Line 2076"/>
          <p:cNvSpPr>
            <a:spLocks noChangeShapeType="1"/>
          </p:cNvSpPr>
          <p:nvPr/>
        </p:nvSpPr>
        <p:spPr bwMode="auto">
          <a:xfrm>
            <a:off x="9067800" y="2209800"/>
            <a:ext cx="0" cy="40386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4038600" y="2819401"/>
            <a:ext cx="4876800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If prediction is taken </a:t>
            </a:r>
          </a:p>
          <a:p>
            <a:r>
              <a:rPr lang="en-US" dirty="0"/>
              <a:t>is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PC_next</a:t>
            </a:r>
            <a:r>
              <a:rPr lang="en-US" dirty="0"/>
              <a:t> equal BTB target</a:t>
            </a:r>
          </a:p>
          <a:p>
            <a:pPr lvl="0"/>
            <a:r>
              <a:rPr lang="nl-NL" sz="2000" b="1" dirty="0">
                <a:solidFill>
                  <a:schemeClr val="accent5">
                    <a:lumMod val="50000"/>
                  </a:schemeClr>
                </a:solidFill>
                <a:ea typeface="Times New Roman" pitchFamily="18" charset="0"/>
                <a:cs typeface="Times New Roman" pitchFamily="18" charset="0"/>
              </a:rPr>
              <a:t>PC_next &amp; BTB Target= 4202b0 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cs typeface="Times New Roman" pitchFamily="18" charset="0"/>
            </a:endParaRP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If prediction is not taken</a:t>
            </a:r>
          </a:p>
          <a:p>
            <a:r>
              <a:rPr lang="en-US" dirty="0"/>
              <a:t>is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PC_next</a:t>
            </a:r>
            <a:r>
              <a:rPr lang="en-US" dirty="0"/>
              <a:t> equal to </a:t>
            </a:r>
            <a:r>
              <a:rPr lang="en-US" b="1" dirty="0">
                <a:solidFill>
                  <a:srgbClr val="FF0000"/>
                </a:solidFill>
              </a:rPr>
              <a:t>PC_current+4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410201"/>
            <a:ext cx="2032000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Right=Right+1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334001"/>
            <a:ext cx="2438400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Wrong=Wrong+1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797047" y="2049724"/>
            <a:ext cx="133655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nl-NL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Trace</a:t>
            </a:r>
          </a:p>
          <a:p>
            <a:pPr eaLnBrk="0" hangingPunct="0"/>
            <a:r>
              <a:rPr lang="nl-NL" sz="1600" b="1" dirty="0">
                <a:solidFill>
                  <a:srgbClr val="FF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4001c4 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nl-NL" sz="16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4202b0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4202b4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701" y="3231543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PC_current = 4001c4</a:t>
            </a:r>
          </a:p>
          <a:p>
            <a:r>
              <a:rPr lang="en-US" dirty="0" err="1"/>
              <a:t>PC_next</a:t>
            </a:r>
            <a:r>
              <a:rPr lang="en-US" dirty="0"/>
              <a:t>    =   	4202b0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691" y="6142257"/>
            <a:ext cx="220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j-lt"/>
              </a:rPr>
              <a:t>Step </a:t>
            </a:r>
            <a:r>
              <a:rPr lang="en-US" sz="3600" b="1" dirty="0" smtClean="0">
                <a:solidFill>
                  <a:srgbClr val="FF0000"/>
                </a:solidFill>
                <a:latin typeface="+mj-lt"/>
              </a:rPr>
              <a:t>3</a:t>
            </a:r>
            <a:r>
              <a:rPr lang="en-US" sz="3600" b="1" dirty="0" smtClean="0">
                <a:solidFill>
                  <a:srgbClr val="FF0000"/>
                </a:solidFill>
                <a:latin typeface="+mj-lt"/>
              </a:rPr>
              <a:t>.B</a:t>
            </a:r>
            <a:endParaRPr lang="en-US" sz="3600" b="1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</a:t>
            </a:r>
            <a:r>
              <a:rPr lang="en-US" dirty="0" smtClean="0"/>
              <a:t>3.B </a:t>
            </a:r>
            <a:r>
              <a:rPr lang="en-US" dirty="0" smtClean="0"/>
              <a:t>(EX)</a:t>
            </a:r>
            <a:endParaRPr lang="en-US" dirty="0"/>
          </a:p>
        </p:txBody>
      </p:sp>
      <p:sp>
        <p:nvSpPr>
          <p:cNvPr id="3" name="Text Box 2077"/>
          <p:cNvSpPr txBox="1">
            <a:spLocks noChangeArrowheads="1"/>
          </p:cNvSpPr>
          <p:nvPr/>
        </p:nvSpPr>
        <p:spPr bwMode="auto">
          <a:xfrm>
            <a:off x="1555210" y="1757577"/>
            <a:ext cx="3733800" cy="1343958"/>
          </a:xfrm>
          <a:prstGeom prst="rect">
            <a:avLst/>
          </a:prstGeom>
          <a:solidFill>
            <a:schemeClr val="bg1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/>
              <a:t>NO STALLS</a:t>
            </a:r>
          </a:p>
          <a:p>
            <a:pPr algn="ctr">
              <a:spcBef>
                <a:spcPts val="400"/>
              </a:spcBef>
            </a:pPr>
            <a:r>
              <a:rPr lang="en-US" altLang="en-US" sz="1800" b="1" u="sng" dirty="0">
                <a:solidFill>
                  <a:srgbClr val="FF0000"/>
                </a:solidFill>
              </a:rPr>
              <a:t>U</a:t>
            </a:r>
            <a:r>
              <a:rPr lang="en-US" altLang="en-US" sz="1800" b="1" dirty="0">
                <a:solidFill>
                  <a:srgbClr val="FF0000"/>
                </a:solidFill>
              </a:rPr>
              <a:t>p</a:t>
            </a:r>
            <a:r>
              <a:rPr lang="en-US" altLang="en-US" sz="1800" b="1" u="sng" dirty="0">
                <a:solidFill>
                  <a:srgbClr val="FF0000"/>
                </a:solidFill>
              </a:rPr>
              <a:t>date BTB: check </a:t>
            </a:r>
            <a:r>
              <a:rPr lang="en-US" altLang="en-US" sz="1800" b="1" u="sng" dirty="0" smtClean="0">
                <a:solidFill>
                  <a:srgbClr val="FF0000"/>
                </a:solidFill>
              </a:rPr>
              <a:t>both the </a:t>
            </a:r>
            <a:r>
              <a:rPr lang="en-US" altLang="en-US" sz="1800" b="1" u="sng" dirty="0">
                <a:solidFill>
                  <a:srgbClr val="FF0000"/>
                </a:solidFill>
              </a:rPr>
              <a:t>prediction </a:t>
            </a:r>
            <a:r>
              <a:rPr lang="en-US" altLang="en-US" sz="1800" b="1" u="sng" dirty="0" smtClean="0">
                <a:solidFill>
                  <a:srgbClr val="FF0000"/>
                </a:solidFill>
              </a:rPr>
              <a:t>and selector state machines</a:t>
            </a:r>
            <a:endParaRPr lang="en-US" altLang="en-US" sz="1800" b="1" u="sng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016108"/>
              </p:ext>
            </p:extLst>
          </p:nvPr>
        </p:nvGraphicFramePr>
        <p:xfrm>
          <a:off x="6096000" y="1447800"/>
          <a:ext cx="5374640" cy="33959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7322435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697590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0344524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052781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487676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0151676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668102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0161905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383343853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Global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871286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PC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Target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Local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Seltr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09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01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rgbClr val="C00000"/>
                          </a:solidFill>
                          <a:latin typeface="+mn-lt"/>
                        </a:rPr>
                        <a:t>4001c4</a:t>
                      </a:r>
                      <a:endParaRPr lang="en-US" sz="1400" b="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6600"/>
                          </a:solidFill>
                          <a:latin typeface="+mn-lt"/>
                        </a:rPr>
                        <a:t>4202b0</a:t>
                      </a:r>
                      <a:endParaRPr lang="en-US" sz="1400" b="1" dirty="0">
                        <a:solidFill>
                          <a:srgbClr val="0066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strike="dblStrik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00</a:t>
                      </a:r>
                      <a:endParaRPr lang="en-US" sz="1400" b="0" strike="dblStrike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rgbClr val="C00000"/>
                          </a:solidFill>
                          <a:latin typeface="+mn-lt"/>
                        </a:rPr>
                        <a:t>11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strike="dblStrik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1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16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93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07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Global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History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53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strike="dblStrik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en-US" sz="1400" b="0" dirty="0" smtClean="0">
                          <a:solidFill>
                            <a:srgbClr val="C00000"/>
                          </a:solidFill>
                          <a:latin typeface="+mn-lt"/>
                        </a:rPr>
                        <a:t>1</a:t>
                      </a:r>
                      <a:endParaRPr lang="en-US" sz="1400" b="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519385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8305800" y="4191000"/>
            <a:ext cx="3622914" cy="2468562"/>
            <a:chOff x="1295400" y="1938507"/>
            <a:chExt cx="6629400" cy="4034526"/>
          </a:xfrm>
        </p:grpSpPr>
        <p:cxnSp>
          <p:nvCxnSpPr>
            <p:cNvPr id="6" name="Straight Arrow Connector 5"/>
            <p:cNvCxnSpPr/>
            <p:nvPr/>
          </p:nvCxnSpPr>
          <p:spPr bwMode="auto">
            <a:xfrm flipV="1">
              <a:off x="2286000" y="3810000"/>
              <a:ext cx="0" cy="28015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Straight Arrow Connector 6"/>
            <p:cNvCxnSpPr/>
            <p:nvPr/>
          </p:nvCxnSpPr>
          <p:spPr bwMode="auto">
            <a:xfrm flipV="1">
              <a:off x="7162800" y="3746820"/>
              <a:ext cx="0" cy="392823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/>
            <p:cNvCxnSpPr/>
            <p:nvPr/>
          </p:nvCxnSpPr>
          <p:spPr bwMode="auto">
            <a:xfrm flipV="1">
              <a:off x="3105665" y="3746820"/>
              <a:ext cx="0" cy="392823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" name="Straight Arrow Connector 8"/>
            <p:cNvCxnSpPr/>
            <p:nvPr/>
          </p:nvCxnSpPr>
          <p:spPr bwMode="auto">
            <a:xfrm flipV="1">
              <a:off x="6248400" y="3746820"/>
              <a:ext cx="0" cy="392823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0" name="Straight Arrow Connector 9"/>
            <p:cNvCxnSpPr/>
            <p:nvPr/>
          </p:nvCxnSpPr>
          <p:spPr bwMode="auto">
            <a:xfrm>
              <a:off x="3733800" y="4495800"/>
              <a:ext cx="175260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Straight Arrow Connector 10"/>
            <p:cNvCxnSpPr/>
            <p:nvPr/>
          </p:nvCxnSpPr>
          <p:spPr bwMode="auto">
            <a:xfrm flipH="1">
              <a:off x="3810000" y="4800600"/>
              <a:ext cx="175260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1852484" y="3843666"/>
              <a:ext cx="1838455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1/0            0/1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34017" y="4210275"/>
              <a:ext cx="895351" cy="93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700" dirty="0">
                  <a:latin typeface="+mn-lt"/>
                </a:rPr>
                <a:t>0/1</a:t>
              </a:r>
            </a:p>
            <a:p>
              <a:pPr>
                <a:spcAft>
                  <a:spcPts val="600"/>
                </a:spcAft>
              </a:pPr>
              <a:endParaRPr lang="en-US" sz="700" dirty="0">
                <a:latin typeface="+mn-lt"/>
              </a:endParaRPr>
            </a:p>
            <a:p>
              <a:pPr>
                <a:spcAft>
                  <a:spcPts val="600"/>
                </a:spcAft>
              </a:pPr>
              <a:r>
                <a:rPr lang="en-US" sz="700" dirty="0">
                  <a:latin typeface="+mn-lt"/>
                </a:rPr>
                <a:t>1/0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09799" y="5562600"/>
              <a:ext cx="1371599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0/0, 1/1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976050" y="2310843"/>
              <a:ext cx="1376748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0/0, 1/0, 1/1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842045" y="3803395"/>
              <a:ext cx="1838455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1/0              0/1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63088" y="5546124"/>
              <a:ext cx="1371599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0/0, 1/1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29339" y="2294367"/>
              <a:ext cx="1376748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0/0, 0/1, 1/1</a:t>
              </a: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1958065" y="1984798"/>
              <a:ext cx="1120827" cy="755711"/>
            </a:xfrm>
            <a:custGeom>
              <a:avLst/>
              <a:gdLst>
                <a:gd name="connsiteX0" fmla="*/ 0 w 1120827"/>
                <a:gd name="connsiteY0" fmla="*/ 733641 h 755711"/>
                <a:gd name="connsiteX1" fmla="*/ 140043 w 1120827"/>
                <a:gd name="connsiteY1" fmla="*/ 214658 h 755711"/>
                <a:gd name="connsiteX2" fmla="*/ 584887 w 1120827"/>
                <a:gd name="connsiteY2" fmla="*/ 474 h 755711"/>
                <a:gd name="connsiteX3" fmla="*/ 1021492 w 1120827"/>
                <a:gd name="connsiteY3" fmla="*/ 264085 h 755711"/>
                <a:gd name="connsiteX4" fmla="*/ 1112108 w 1120827"/>
                <a:gd name="connsiteY4" fmla="*/ 717166 h 755711"/>
                <a:gd name="connsiteX5" fmla="*/ 1112108 w 1120827"/>
                <a:gd name="connsiteY5" fmla="*/ 700690 h 75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27" h="755711">
                  <a:moveTo>
                    <a:pt x="0" y="733641"/>
                  </a:moveTo>
                  <a:cubicBezTo>
                    <a:pt x="21281" y="535246"/>
                    <a:pt x="42562" y="336852"/>
                    <a:pt x="140043" y="214658"/>
                  </a:cubicBezTo>
                  <a:cubicBezTo>
                    <a:pt x="237524" y="92464"/>
                    <a:pt x="437979" y="-7764"/>
                    <a:pt x="584887" y="474"/>
                  </a:cubicBezTo>
                  <a:cubicBezTo>
                    <a:pt x="731795" y="8712"/>
                    <a:pt x="933622" y="144636"/>
                    <a:pt x="1021492" y="264085"/>
                  </a:cubicBezTo>
                  <a:cubicBezTo>
                    <a:pt x="1109362" y="383534"/>
                    <a:pt x="1097005" y="644399"/>
                    <a:pt x="1112108" y="717166"/>
                  </a:cubicBezTo>
                  <a:cubicBezTo>
                    <a:pt x="1127211" y="789933"/>
                    <a:pt x="1119659" y="745311"/>
                    <a:pt x="1112108" y="700690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6128790" y="1938507"/>
              <a:ext cx="1120827" cy="755711"/>
            </a:xfrm>
            <a:custGeom>
              <a:avLst/>
              <a:gdLst>
                <a:gd name="connsiteX0" fmla="*/ 0 w 1120827"/>
                <a:gd name="connsiteY0" fmla="*/ 733641 h 755711"/>
                <a:gd name="connsiteX1" fmla="*/ 140043 w 1120827"/>
                <a:gd name="connsiteY1" fmla="*/ 214658 h 755711"/>
                <a:gd name="connsiteX2" fmla="*/ 584887 w 1120827"/>
                <a:gd name="connsiteY2" fmla="*/ 474 h 755711"/>
                <a:gd name="connsiteX3" fmla="*/ 1021492 w 1120827"/>
                <a:gd name="connsiteY3" fmla="*/ 264085 h 755711"/>
                <a:gd name="connsiteX4" fmla="*/ 1112108 w 1120827"/>
                <a:gd name="connsiteY4" fmla="*/ 717166 h 755711"/>
                <a:gd name="connsiteX5" fmla="*/ 1112108 w 1120827"/>
                <a:gd name="connsiteY5" fmla="*/ 700690 h 75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27" h="755711">
                  <a:moveTo>
                    <a:pt x="0" y="733641"/>
                  </a:moveTo>
                  <a:cubicBezTo>
                    <a:pt x="21281" y="535246"/>
                    <a:pt x="42562" y="336852"/>
                    <a:pt x="140043" y="214658"/>
                  </a:cubicBezTo>
                  <a:cubicBezTo>
                    <a:pt x="237524" y="92464"/>
                    <a:pt x="437979" y="-7764"/>
                    <a:pt x="584887" y="474"/>
                  </a:cubicBezTo>
                  <a:cubicBezTo>
                    <a:pt x="731795" y="8712"/>
                    <a:pt x="933622" y="144636"/>
                    <a:pt x="1021492" y="264085"/>
                  </a:cubicBezTo>
                  <a:cubicBezTo>
                    <a:pt x="1109362" y="383534"/>
                    <a:pt x="1097005" y="644399"/>
                    <a:pt x="1112108" y="717166"/>
                  </a:cubicBezTo>
                  <a:cubicBezTo>
                    <a:pt x="1127211" y="789933"/>
                    <a:pt x="1119659" y="745311"/>
                    <a:pt x="1112108" y="700690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1996487" y="5206314"/>
              <a:ext cx="1109178" cy="766719"/>
            </a:xfrm>
            <a:custGeom>
              <a:avLst/>
              <a:gdLst>
                <a:gd name="connsiteX0" fmla="*/ 5308 w 1109178"/>
                <a:gd name="connsiteY0" fmla="*/ 0 h 766719"/>
                <a:gd name="connsiteX1" fmla="*/ 79448 w 1109178"/>
                <a:gd name="connsiteY1" fmla="*/ 444843 h 766719"/>
                <a:gd name="connsiteX2" fmla="*/ 557243 w 1109178"/>
                <a:gd name="connsiteY2" fmla="*/ 766118 h 766719"/>
                <a:gd name="connsiteX3" fmla="*/ 985610 w 1109178"/>
                <a:gd name="connsiteY3" fmla="*/ 510745 h 766719"/>
                <a:gd name="connsiteX4" fmla="*/ 1109178 w 1109178"/>
                <a:gd name="connsiteY4" fmla="*/ 16475 h 76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9178" h="766719">
                  <a:moveTo>
                    <a:pt x="5308" y="0"/>
                  </a:moveTo>
                  <a:cubicBezTo>
                    <a:pt x="-3617" y="158578"/>
                    <a:pt x="-12541" y="317157"/>
                    <a:pt x="79448" y="444843"/>
                  </a:cubicBezTo>
                  <a:cubicBezTo>
                    <a:pt x="171437" y="572529"/>
                    <a:pt x="406216" y="755134"/>
                    <a:pt x="557243" y="766118"/>
                  </a:cubicBezTo>
                  <a:cubicBezTo>
                    <a:pt x="708270" y="777102"/>
                    <a:pt x="893621" y="635685"/>
                    <a:pt x="985610" y="510745"/>
                  </a:cubicBezTo>
                  <a:cubicBezTo>
                    <a:pt x="1077599" y="385805"/>
                    <a:pt x="1093388" y="201140"/>
                    <a:pt x="1109178" y="16475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6140439" y="5206313"/>
              <a:ext cx="1109178" cy="766719"/>
            </a:xfrm>
            <a:custGeom>
              <a:avLst/>
              <a:gdLst>
                <a:gd name="connsiteX0" fmla="*/ 5308 w 1109178"/>
                <a:gd name="connsiteY0" fmla="*/ 0 h 766719"/>
                <a:gd name="connsiteX1" fmla="*/ 79448 w 1109178"/>
                <a:gd name="connsiteY1" fmla="*/ 444843 h 766719"/>
                <a:gd name="connsiteX2" fmla="*/ 557243 w 1109178"/>
                <a:gd name="connsiteY2" fmla="*/ 766118 h 766719"/>
                <a:gd name="connsiteX3" fmla="*/ 985610 w 1109178"/>
                <a:gd name="connsiteY3" fmla="*/ 510745 h 766719"/>
                <a:gd name="connsiteX4" fmla="*/ 1109178 w 1109178"/>
                <a:gd name="connsiteY4" fmla="*/ 16475 h 76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9178" h="766719">
                  <a:moveTo>
                    <a:pt x="5308" y="0"/>
                  </a:moveTo>
                  <a:cubicBezTo>
                    <a:pt x="-3617" y="158578"/>
                    <a:pt x="-12541" y="317157"/>
                    <a:pt x="79448" y="444843"/>
                  </a:cubicBezTo>
                  <a:cubicBezTo>
                    <a:pt x="171437" y="572529"/>
                    <a:pt x="406216" y="755134"/>
                    <a:pt x="557243" y="766118"/>
                  </a:cubicBezTo>
                  <a:cubicBezTo>
                    <a:pt x="708270" y="777102"/>
                    <a:pt x="893621" y="635685"/>
                    <a:pt x="985610" y="510745"/>
                  </a:cubicBezTo>
                  <a:cubicBezTo>
                    <a:pt x="1077599" y="385805"/>
                    <a:pt x="1093388" y="201140"/>
                    <a:pt x="1109178" y="16475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3" name="Oval 22"/>
            <p:cNvSpPr/>
            <p:nvPr/>
          </p:nvSpPr>
          <p:spPr bwMode="auto">
            <a:xfrm>
              <a:off x="1295400" y="2615643"/>
              <a:ext cx="2514601" cy="1194357"/>
            </a:xfrm>
            <a:prstGeom prst="ellipse">
              <a:avLst/>
            </a:prstGeom>
            <a:solidFill>
              <a:srgbClr val="FF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100" dirty="0">
                  <a:latin typeface="+mn-lt"/>
                </a:rPr>
                <a:t>Use Non-correlator (11)</a:t>
              </a: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1295400" y="4090151"/>
              <a:ext cx="2514600" cy="1194357"/>
            </a:xfrm>
            <a:prstGeom prst="ellipse">
              <a:avLst/>
            </a:prstGeom>
            <a:solidFill>
              <a:srgbClr val="FF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100" dirty="0">
                  <a:latin typeface="+mn-lt"/>
                </a:rPr>
                <a:t>Use Non-correlator (10)</a:t>
              </a: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5410200" y="2578572"/>
              <a:ext cx="2514600" cy="119435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100" dirty="0">
                  <a:latin typeface="+mn-lt"/>
                </a:rPr>
                <a:t>Use Correlator (00)</a:t>
              </a:r>
            </a:p>
          </p:txBody>
        </p:sp>
        <p:sp>
          <p:nvSpPr>
            <p:cNvPr id="26" name="Oval 25"/>
            <p:cNvSpPr/>
            <p:nvPr/>
          </p:nvSpPr>
          <p:spPr bwMode="auto">
            <a:xfrm>
              <a:off x="5410200" y="4090151"/>
              <a:ext cx="2514600" cy="119435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100" dirty="0">
                  <a:latin typeface="+mn-lt"/>
                </a:rPr>
                <a:t>Use Correlator (01)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300666" y="3577709"/>
            <a:ext cx="4419600" cy="2532142"/>
            <a:chOff x="1828800" y="2819400"/>
            <a:chExt cx="6248400" cy="3606384"/>
          </a:xfrm>
        </p:grpSpPr>
        <p:sp>
          <p:nvSpPr>
            <p:cNvPr id="28" name="Oval 35"/>
            <p:cNvSpPr>
              <a:spLocks noChangeArrowheads="1"/>
            </p:cNvSpPr>
            <p:nvPr/>
          </p:nvSpPr>
          <p:spPr bwMode="auto">
            <a:xfrm>
              <a:off x="2362200" y="3048000"/>
              <a:ext cx="1066800" cy="990600"/>
            </a:xfrm>
            <a:prstGeom prst="ellipse">
              <a:avLst/>
            </a:prstGeom>
            <a:solidFill>
              <a:schemeClr val="bg1"/>
            </a:solidFill>
            <a:ln w="38100" cap="rnd">
              <a:solidFill>
                <a:srgbClr val="0066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2520950" y="2952750"/>
              <a:ext cx="1588" cy="1588"/>
            </a:xfrm>
            <a:prstGeom prst="rect">
              <a:avLst/>
            </a:prstGeom>
            <a:solidFill>
              <a:srgbClr val="FFFFFF"/>
            </a:solidFill>
            <a:ln w="12700" cmpd="tri">
              <a:noFill/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2520950" y="2952750"/>
              <a:ext cx="1588" cy="1588"/>
            </a:xfrm>
            <a:prstGeom prst="rect">
              <a:avLst/>
            </a:prstGeom>
            <a:solidFill>
              <a:srgbClr val="FFFFFF"/>
            </a:solidFill>
            <a:ln w="12700" cmpd="tri">
              <a:noFill/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1" name="Rectangle 22"/>
            <p:cNvSpPr>
              <a:spLocks noChangeArrowheads="1"/>
            </p:cNvSpPr>
            <p:nvPr/>
          </p:nvSpPr>
          <p:spPr bwMode="auto">
            <a:xfrm>
              <a:off x="2520950" y="2952750"/>
              <a:ext cx="1588" cy="1588"/>
            </a:xfrm>
            <a:prstGeom prst="rect">
              <a:avLst/>
            </a:prstGeom>
            <a:solidFill>
              <a:srgbClr val="FFFFFF"/>
            </a:solidFill>
            <a:ln w="12700" cmpd="tri">
              <a:noFill/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2" name="Rectangle 24"/>
            <p:cNvSpPr>
              <a:spLocks noChangeArrowheads="1"/>
            </p:cNvSpPr>
            <p:nvPr/>
          </p:nvSpPr>
          <p:spPr bwMode="auto">
            <a:xfrm>
              <a:off x="2520950" y="2952750"/>
              <a:ext cx="1588" cy="1588"/>
            </a:xfrm>
            <a:prstGeom prst="rect">
              <a:avLst/>
            </a:prstGeom>
            <a:solidFill>
              <a:srgbClr val="FFFFFF"/>
            </a:solidFill>
            <a:ln w="12700" cmpd="tri">
              <a:noFill/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1981200" y="3429000"/>
              <a:ext cx="1828800" cy="990600"/>
            </a:xfrm>
            <a:prstGeom prst="ellipse">
              <a:avLst/>
            </a:prstGeom>
            <a:solidFill>
              <a:srgbClr val="9AE69A"/>
            </a:soli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2057400" y="3505200"/>
              <a:ext cx="1676400" cy="832861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dirty="0">
                  <a:solidFill>
                    <a:srgbClr val="003300"/>
                  </a:solidFill>
                </a:rPr>
                <a:t>Predicted Taken (11)</a:t>
              </a: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auto">
            <a:xfrm>
              <a:off x="3124201" y="2819400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rgbClr val="006600"/>
                  </a:solidFill>
                </a:rPr>
                <a:t>Taken</a:t>
              </a: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3733800" y="3733800"/>
              <a:ext cx="19050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" name="Text Box 38"/>
            <p:cNvSpPr txBox="1">
              <a:spLocks noChangeArrowheads="1"/>
            </p:cNvSpPr>
            <p:nvPr/>
          </p:nvSpPr>
          <p:spPr bwMode="auto">
            <a:xfrm>
              <a:off x="3810001" y="3276599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chemeClr val="hlink"/>
                  </a:solidFill>
                </a:rPr>
                <a:t>Not taken</a:t>
              </a:r>
            </a:p>
          </p:txBody>
        </p:sp>
        <p:sp>
          <p:nvSpPr>
            <p:cNvPr id="38" name="Oval 39"/>
            <p:cNvSpPr>
              <a:spLocks noChangeArrowheads="1"/>
            </p:cNvSpPr>
            <p:nvPr/>
          </p:nvSpPr>
          <p:spPr bwMode="auto">
            <a:xfrm>
              <a:off x="5562600" y="3429000"/>
              <a:ext cx="1828800" cy="990600"/>
            </a:xfrm>
            <a:prstGeom prst="ellipse">
              <a:avLst/>
            </a:prstGeom>
            <a:solidFill>
              <a:srgbClr val="9AE69A"/>
            </a:soli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9" name="Text Box 40"/>
            <p:cNvSpPr txBox="1">
              <a:spLocks noChangeArrowheads="1"/>
            </p:cNvSpPr>
            <p:nvPr/>
          </p:nvSpPr>
          <p:spPr bwMode="auto">
            <a:xfrm>
              <a:off x="5638801" y="3505200"/>
              <a:ext cx="1676400" cy="832861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dirty="0">
                  <a:solidFill>
                    <a:srgbClr val="003300"/>
                  </a:solidFill>
                </a:rPr>
                <a:t>Predicted Taken (10)</a:t>
              </a: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3733800" y="4114800"/>
              <a:ext cx="190500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 Box 42"/>
            <p:cNvSpPr txBox="1">
              <a:spLocks noChangeArrowheads="1"/>
            </p:cNvSpPr>
            <p:nvPr/>
          </p:nvSpPr>
          <p:spPr bwMode="auto">
            <a:xfrm>
              <a:off x="3962400" y="4038600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rgbClr val="006600"/>
                  </a:solidFill>
                </a:rPr>
                <a:t>Taken</a:t>
              </a:r>
            </a:p>
          </p:txBody>
        </p:sp>
        <p:sp>
          <p:nvSpPr>
            <p:cNvPr id="42" name="Oval 43"/>
            <p:cNvSpPr>
              <a:spLocks noChangeArrowheads="1"/>
            </p:cNvSpPr>
            <p:nvPr/>
          </p:nvSpPr>
          <p:spPr bwMode="auto">
            <a:xfrm>
              <a:off x="6019800" y="5410200"/>
              <a:ext cx="1066800" cy="990600"/>
            </a:xfrm>
            <a:prstGeom prst="ellipse">
              <a:avLst/>
            </a:prstGeom>
            <a:solidFill>
              <a:schemeClr val="bg1"/>
            </a:solidFill>
            <a:ln w="38100" cap="rnd">
              <a:solidFill>
                <a:schemeClr val="hlink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3" name="Oval 44"/>
            <p:cNvSpPr>
              <a:spLocks noChangeArrowheads="1"/>
            </p:cNvSpPr>
            <p:nvPr/>
          </p:nvSpPr>
          <p:spPr bwMode="auto">
            <a:xfrm>
              <a:off x="1981200" y="4953000"/>
              <a:ext cx="1828800" cy="990600"/>
            </a:xfrm>
            <a:prstGeom prst="ellipse">
              <a:avLst/>
            </a:prstGeom>
            <a:solidFill>
              <a:srgbClr val="FFC3CD"/>
            </a:solidFill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4" name="Text Box 45"/>
            <p:cNvSpPr txBox="1">
              <a:spLocks noChangeArrowheads="1"/>
            </p:cNvSpPr>
            <p:nvPr/>
          </p:nvSpPr>
          <p:spPr bwMode="auto">
            <a:xfrm>
              <a:off x="1828800" y="5105400"/>
              <a:ext cx="2133600" cy="832861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dirty="0"/>
                <a:t>Predicted (01) not Taken</a:t>
              </a:r>
            </a:p>
          </p:txBody>
        </p:sp>
        <p:sp>
          <p:nvSpPr>
            <p:cNvPr id="45" name="Text Box 46"/>
            <p:cNvSpPr txBox="1">
              <a:spLocks noChangeArrowheads="1"/>
            </p:cNvSpPr>
            <p:nvPr/>
          </p:nvSpPr>
          <p:spPr bwMode="auto">
            <a:xfrm>
              <a:off x="4800599" y="5943601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chemeClr val="hlink"/>
                  </a:solidFill>
                </a:rPr>
                <a:t>Not taken</a:t>
              </a: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3733800" y="5257800"/>
              <a:ext cx="1905000" cy="158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 Box 48"/>
            <p:cNvSpPr txBox="1">
              <a:spLocks noChangeArrowheads="1"/>
            </p:cNvSpPr>
            <p:nvPr/>
          </p:nvSpPr>
          <p:spPr bwMode="auto">
            <a:xfrm>
              <a:off x="3810001" y="4800600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chemeClr val="hlink"/>
                  </a:solidFill>
                </a:rPr>
                <a:t>Not taken</a:t>
              </a:r>
            </a:p>
          </p:txBody>
        </p:sp>
        <p:sp>
          <p:nvSpPr>
            <p:cNvPr id="48" name="Oval 49"/>
            <p:cNvSpPr>
              <a:spLocks noChangeArrowheads="1"/>
            </p:cNvSpPr>
            <p:nvPr/>
          </p:nvSpPr>
          <p:spPr bwMode="auto">
            <a:xfrm>
              <a:off x="5562600" y="4953000"/>
              <a:ext cx="1828800" cy="990600"/>
            </a:xfrm>
            <a:prstGeom prst="ellipse">
              <a:avLst/>
            </a:prstGeom>
            <a:solidFill>
              <a:srgbClr val="FFC3CD"/>
            </a:solidFill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9" name="Text Box 50"/>
            <p:cNvSpPr txBox="1">
              <a:spLocks noChangeArrowheads="1"/>
            </p:cNvSpPr>
            <p:nvPr/>
          </p:nvSpPr>
          <p:spPr bwMode="auto">
            <a:xfrm>
              <a:off x="5486400" y="5105400"/>
              <a:ext cx="1981201" cy="832861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dirty="0"/>
                <a:t>Predicted (00) not Taken</a:t>
              </a:r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3733800" y="5638800"/>
              <a:ext cx="1905000" cy="158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1" name="Text Box 52"/>
            <p:cNvSpPr txBox="1">
              <a:spLocks noChangeArrowheads="1"/>
            </p:cNvSpPr>
            <p:nvPr/>
          </p:nvSpPr>
          <p:spPr bwMode="auto">
            <a:xfrm>
              <a:off x="4038600" y="5562601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rgbClr val="006600"/>
                  </a:solidFill>
                </a:rPr>
                <a:t>Taken</a:t>
              </a:r>
            </a:p>
          </p:txBody>
        </p:sp>
        <p:sp>
          <p:nvSpPr>
            <p:cNvPr id="52" name="Line 54"/>
            <p:cNvSpPr>
              <a:spLocks noChangeShapeType="1"/>
            </p:cNvSpPr>
            <p:nvPr/>
          </p:nvSpPr>
          <p:spPr bwMode="auto">
            <a:xfrm>
              <a:off x="6477000" y="4419600"/>
              <a:ext cx="0" cy="5334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6477000" y="4419600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chemeClr val="hlink"/>
                  </a:solidFill>
                </a:rPr>
                <a:t>Not taken</a:t>
              </a:r>
            </a:p>
          </p:txBody>
        </p:sp>
        <p:sp>
          <p:nvSpPr>
            <p:cNvPr id="54" name="Line 56"/>
            <p:cNvSpPr>
              <a:spLocks noChangeShapeType="1"/>
            </p:cNvSpPr>
            <p:nvPr/>
          </p:nvSpPr>
          <p:spPr bwMode="auto">
            <a:xfrm>
              <a:off x="2895600" y="4419600"/>
              <a:ext cx="0" cy="53498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5" name="Text Box 57"/>
            <p:cNvSpPr txBox="1">
              <a:spLocks noChangeArrowheads="1"/>
            </p:cNvSpPr>
            <p:nvPr/>
          </p:nvSpPr>
          <p:spPr bwMode="auto">
            <a:xfrm>
              <a:off x="1905001" y="4495802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 dirty="0">
                  <a:solidFill>
                    <a:srgbClr val="006600"/>
                  </a:solidFill>
                </a:rPr>
                <a:t>Taken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400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53843" y="375920"/>
          <a:ext cx="5374640" cy="33959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7322435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697590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0344524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052781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487676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0151676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668102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0161905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383343853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Global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871286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PC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Target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Local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Seltr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09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01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rgbClr val="C00000"/>
                          </a:solidFill>
                          <a:latin typeface="+mn-lt"/>
                        </a:rPr>
                        <a:t>4001c4</a:t>
                      </a:r>
                      <a:endParaRPr lang="en-US" sz="1400" b="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6600"/>
                          </a:solidFill>
                          <a:latin typeface="+mn-lt"/>
                        </a:rPr>
                        <a:t>4202b0</a:t>
                      </a:r>
                      <a:endParaRPr lang="en-US" sz="1400" b="1" dirty="0">
                        <a:solidFill>
                          <a:srgbClr val="0066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rgbClr val="C00000"/>
                          </a:solidFill>
                          <a:latin typeface="+mn-lt"/>
                        </a:rPr>
                        <a:t>11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1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16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93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07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Global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History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53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51938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569" y="541887"/>
            <a:ext cx="7162800" cy="1143000"/>
          </a:xfrm>
        </p:spPr>
        <p:txBody>
          <a:bodyPr/>
          <a:lstStyle/>
          <a:p>
            <a:pPr algn="l"/>
            <a:r>
              <a:rPr lang="en-US" dirty="0" smtClean="0"/>
              <a:t>Step 1 (stage IF)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797047" y="2049724"/>
            <a:ext cx="133655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nl-NL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Trace</a:t>
            </a:r>
          </a:p>
          <a:p>
            <a:pPr eaLnBrk="0" hangingPunct="0"/>
            <a:r>
              <a:rPr lang="nl-NL" sz="1600" b="1" dirty="0">
                <a:solidFill>
                  <a:srgbClr val="FF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4001c4 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nl-NL" sz="1600" b="1" dirty="0" smtClean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4001c8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en-US" sz="1600" b="1" dirty="0" smtClean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4001cc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7926" y="2065886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PC_current = 4001c4</a:t>
            </a:r>
          </a:p>
          <a:p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PC_next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   =   	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4001c8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Line 1033"/>
          <p:cNvSpPr>
            <a:spLocks noChangeShapeType="1"/>
          </p:cNvSpPr>
          <p:nvPr/>
        </p:nvSpPr>
        <p:spPr bwMode="auto">
          <a:xfrm>
            <a:off x="3352800" y="4038600"/>
            <a:ext cx="4038600" cy="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" name="AutoShape 1028"/>
          <p:cNvSpPr>
            <a:spLocks noChangeArrowheads="1"/>
          </p:cNvSpPr>
          <p:nvPr/>
        </p:nvSpPr>
        <p:spPr bwMode="auto">
          <a:xfrm>
            <a:off x="3810000" y="3352800"/>
            <a:ext cx="2971800" cy="1371600"/>
          </a:xfrm>
          <a:prstGeom prst="flowChartDecision">
            <a:avLst/>
          </a:prstGeom>
          <a:solidFill>
            <a:schemeClr val="bg1"/>
          </a:solidFill>
          <a:ln w="28575">
            <a:solidFill>
              <a:srgbClr val="DC008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9" name="Text Box 1029"/>
          <p:cNvSpPr txBox="1">
            <a:spLocks noChangeArrowheads="1"/>
          </p:cNvSpPr>
          <p:nvPr/>
        </p:nvSpPr>
        <p:spPr bwMode="auto">
          <a:xfrm>
            <a:off x="4343400" y="3657601"/>
            <a:ext cx="1905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/>
              <a:t>Is PC_current in BTB ?</a:t>
            </a:r>
          </a:p>
        </p:txBody>
      </p:sp>
      <p:sp>
        <p:nvSpPr>
          <p:cNvPr id="10" name="Line 1034"/>
          <p:cNvSpPr>
            <a:spLocks noChangeShapeType="1"/>
          </p:cNvSpPr>
          <p:nvPr/>
        </p:nvSpPr>
        <p:spPr bwMode="auto">
          <a:xfrm>
            <a:off x="3352800" y="4038600"/>
            <a:ext cx="0" cy="12954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Line 1035"/>
          <p:cNvSpPr>
            <a:spLocks noChangeShapeType="1"/>
          </p:cNvSpPr>
          <p:nvPr/>
        </p:nvSpPr>
        <p:spPr bwMode="auto">
          <a:xfrm>
            <a:off x="7391400" y="4038600"/>
            <a:ext cx="0" cy="12954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" name="Text Box 1036"/>
          <p:cNvSpPr txBox="1">
            <a:spLocks noChangeArrowheads="1"/>
          </p:cNvSpPr>
          <p:nvPr/>
        </p:nvSpPr>
        <p:spPr bwMode="auto">
          <a:xfrm>
            <a:off x="31242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No</a:t>
            </a:r>
          </a:p>
        </p:txBody>
      </p:sp>
      <p:sp>
        <p:nvSpPr>
          <p:cNvPr id="13" name="Text Box 1037"/>
          <p:cNvSpPr txBox="1">
            <a:spLocks noChangeArrowheads="1"/>
          </p:cNvSpPr>
          <p:nvPr/>
        </p:nvSpPr>
        <p:spPr bwMode="auto">
          <a:xfrm>
            <a:off x="67056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7600" y="4428696"/>
            <a:ext cx="1524000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Hit=Hit+1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700" y="4399466"/>
            <a:ext cx="3429000" cy="120032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Search BTB location: 113</a:t>
            </a:r>
          </a:p>
          <a:p>
            <a:pPr algn="ctr"/>
            <a:r>
              <a:rPr lang="en-US" dirty="0"/>
              <a:t>AND</a:t>
            </a:r>
          </a:p>
          <a:p>
            <a:pPr algn="ctr"/>
            <a:r>
              <a:rPr lang="en-US" dirty="0"/>
              <a:t>BTB.PC = </a:t>
            </a:r>
            <a:r>
              <a:rPr lang="en-US" dirty="0" err="1"/>
              <a:t>PC_current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220200" y="4014152"/>
            <a:ext cx="25146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Prediction: </a:t>
            </a:r>
            <a:r>
              <a:rPr lang="en-US" dirty="0" smtClean="0">
                <a:solidFill>
                  <a:srgbClr val="C00000"/>
                </a:solidFill>
              </a:rPr>
              <a:t>TAKEN</a:t>
            </a:r>
            <a:r>
              <a:rPr lang="en-US" dirty="0" smtClean="0"/>
              <a:t> (local)</a:t>
            </a:r>
          </a:p>
          <a:p>
            <a:r>
              <a:rPr lang="en-US" dirty="0" smtClean="0"/>
              <a:t>Target PC: 4202b0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247900" y="5486400"/>
            <a:ext cx="220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j-lt"/>
              </a:rPr>
              <a:t>Step </a:t>
            </a:r>
            <a:r>
              <a:rPr lang="en-US" sz="3600" b="1" dirty="0" smtClean="0">
                <a:solidFill>
                  <a:srgbClr val="FF0000"/>
                </a:solidFill>
                <a:latin typeface="+mj-lt"/>
              </a:rPr>
              <a:t>2.C</a:t>
            </a:r>
            <a:endParaRPr lang="en-US" sz="36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734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609600"/>
            <a:ext cx="7772400" cy="1143000"/>
          </a:xfrm>
        </p:spPr>
        <p:txBody>
          <a:bodyPr/>
          <a:lstStyle/>
          <a:p>
            <a:r>
              <a:rPr lang="en-US" dirty="0" smtClean="0"/>
              <a:t>Step </a:t>
            </a:r>
            <a:r>
              <a:rPr lang="en-US" dirty="0" smtClean="0"/>
              <a:t>2.C </a:t>
            </a:r>
            <a:r>
              <a:rPr lang="en-US" dirty="0" smtClean="0"/>
              <a:t>(ID stage –BTB found)</a:t>
            </a:r>
            <a:endParaRPr lang="en-US" dirty="0"/>
          </a:p>
        </p:txBody>
      </p:sp>
      <p:sp>
        <p:nvSpPr>
          <p:cNvPr id="16" name="Line 2059"/>
          <p:cNvSpPr>
            <a:spLocks noChangeShapeType="1"/>
          </p:cNvSpPr>
          <p:nvPr/>
        </p:nvSpPr>
        <p:spPr bwMode="auto">
          <a:xfrm>
            <a:off x="3962400" y="2209800"/>
            <a:ext cx="5105400" cy="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AutoShape 2060"/>
          <p:cNvSpPr>
            <a:spLocks noChangeArrowheads="1"/>
          </p:cNvSpPr>
          <p:nvPr/>
        </p:nvSpPr>
        <p:spPr bwMode="auto">
          <a:xfrm>
            <a:off x="4419600" y="1600200"/>
            <a:ext cx="2971800" cy="1219200"/>
          </a:xfrm>
          <a:prstGeom prst="flowChartDecision">
            <a:avLst/>
          </a:prstGeom>
          <a:solidFill>
            <a:schemeClr val="bg1"/>
          </a:solidFill>
          <a:ln w="28575">
            <a:solidFill>
              <a:srgbClr val="DC008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8" name="Text Box 2061"/>
          <p:cNvSpPr txBox="1">
            <a:spLocks noChangeArrowheads="1"/>
          </p:cNvSpPr>
          <p:nvPr/>
        </p:nvSpPr>
        <p:spPr bwMode="auto">
          <a:xfrm>
            <a:off x="4800600" y="19050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/>
              <a:t>Right prediction?</a:t>
            </a:r>
          </a:p>
        </p:txBody>
      </p:sp>
      <p:sp>
        <p:nvSpPr>
          <p:cNvPr id="19" name="Text Box 2063"/>
          <p:cNvSpPr txBox="1">
            <a:spLocks noChangeArrowheads="1"/>
          </p:cNvSpPr>
          <p:nvPr/>
        </p:nvSpPr>
        <p:spPr bwMode="auto">
          <a:xfrm>
            <a:off x="3886200" y="1676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No</a:t>
            </a:r>
          </a:p>
        </p:txBody>
      </p:sp>
      <p:sp>
        <p:nvSpPr>
          <p:cNvPr id="20" name="Text Box 2064"/>
          <p:cNvSpPr txBox="1">
            <a:spLocks noChangeArrowheads="1"/>
          </p:cNvSpPr>
          <p:nvPr/>
        </p:nvSpPr>
        <p:spPr bwMode="auto">
          <a:xfrm>
            <a:off x="7086600" y="1752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Yes</a:t>
            </a:r>
          </a:p>
        </p:txBody>
      </p:sp>
      <p:sp>
        <p:nvSpPr>
          <p:cNvPr id="23" name="Line 2074"/>
          <p:cNvSpPr>
            <a:spLocks noChangeShapeType="1"/>
          </p:cNvSpPr>
          <p:nvPr/>
        </p:nvSpPr>
        <p:spPr bwMode="auto">
          <a:xfrm>
            <a:off x="3962400" y="2209800"/>
            <a:ext cx="0" cy="40386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" name="Line 2076"/>
          <p:cNvSpPr>
            <a:spLocks noChangeShapeType="1"/>
          </p:cNvSpPr>
          <p:nvPr/>
        </p:nvSpPr>
        <p:spPr bwMode="auto">
          <a:xfrm>
            <a:off x="9067800" y="2209800"/>
            <a:ext cx="0" cy="4038600"/>
          </a:xfrm>
          <a:prstGeom prst="line">
            <a:avLst/>
          </a:prstGeom>
          <a:noFill/>
          <a:ln w="19050">
            <a:solidFill>
              <a:srgbClr val="DC008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4038600" y="2819401"/>
            <a:ext cx="4876800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If prediction is taken </a:t>
            </a:r>
          </a:p>
          <a:p>
            <a:r>
              <a:rPr lang="en-US" dirty="0"/>
              <a:t>is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PC_next</a:t>
            </a:r>
            <a:r>
              <a:rPr lang="en-US" dirty="0"/>
              <a:t> equal BTB </a:t>
            </a:r>
            <a:r>
              <a:rPr lang="en-US" dirty="0" smtClean="0"/>
              <a:t>target?</a:t>
            </a:r>
            <a:endParaRPr lang="en-US" dirty="0"/>
          </a:p>
          <a:p>
            <a:pPr lvl="0"/>
            <a:r>
              <a:rPr lang="nl-NL" sz="2000" b="1" dirty="0">
                <a:solidFill>
                  <a:schemeClr val="accent5">
                    <a:lumMod val="50000"/>
                  </a:schemeClr>
                </a:solidFill>
                <a:ea typeface="Times New Roman" pitchFamily="18" charset="0"/>
                <a:cs typeface="Times New Roman" pitchFamily="18" charset="0"/>
              </a:rPr>
              <a:t>PC_next &amp; BTB Target= 4202b0 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cs typeface="Times New Roman" pitchFamily="18" charset="0"/>
            </a:endParaRP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If prediction is not taken</a:t>
            </a:r>
          </a:p>
          <a:p>
            <a:r>
              <a:rPr lang="en-US" dirty="0"/>
              <a:t>is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PC_next</a:t>
            </a:r>
            <a:r>
              <a:rPr lang="en-US" dirty="0"/>
              <a:t> equal to </a:t>
            </a:r>
            <a:r>
              <a:rPr lang="en-US" b="1" dirty="0" smtClean="0">
                <a:solidFill>
                  <a:srgbClr val="FF0000"/>
                </a:solidFill>
              </a:rPr>
              <a:t>PC_current+4?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01000" y="5410201"/>
            <a:ext cx="2032000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Right=Right+1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334001"/>
            <a:ext cx="2438400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Wrong=Wrong+1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797047" y="2049724"/>
            <a:ext cx="133655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nl-NL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Trace</a:t>
            </a:r>
          </a:p>
          <a:p>
            <a:pPr eaLnBrk="0" hangingPunct="0"/>
            <a:r>
              <a:rPr lang="nl-NL" sz="1600" b="1" dirty="0">
                <a:solidFill>
                  <a:srgbClr val="FF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4001c4 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nl-NL" sz="16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4001c8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eaLnBrk="0" hangingPunct="0"/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4001cc 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701" y="3231543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PC_current = 4001c4</a:t>
            </a:r>
          </a:p>
          <a:p>
            <a:r>
              <a:rPr lang="en-US" dirty="0" err="1"/>
              <a:t>PC_next</a:t>
            </a:r>
            <a:r>
              <a:rPr lang="en-US" dirty="0"/>
              <a:t>    =   	</a:t>
            </a:r>
            <a:r>
              <a:rPr lang="en-US" dirty="0" smtClean="0"/>
              <a:t>4001c8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2971800" y="6029835"/>
            <a:ext cx="220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j-lt"/>
              </a:rPr>
              <a:t>Step </a:t>
            </a:r>
            <a:r>
              <a:rPr lang="en-US" sz="3600" b="1" dirty="0" smtClean="0">
                <a:solidFill>
                  <a:srgbClr val="FF0000"/>
                </a:solidFill>
                <a:latin typeface="+mj-lt"/>
              </a:rPr>
              <a:t>3.C</a:t>
            </a:r>
            <a:endParaRPr lang="en-US" sz="36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643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</a:t>
            </a:r>
            <a:r>
              <a:rPr lang="en-US" dirty="0" smtClean="0"/>
              <a:t>3.C </a:t>
            </a:r>
            <a:r>
              <a:rPr lang="en-US" dirty="0" smtClean="0"/>
              <a:t>(EX)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786075"/>
              </p:ext>
            </p:extLst>
          </p:nvPr>
        </p:nvGraphicFramePr>
        <p:xfrm>
          <a:off x="6096000" y="1447800"/>
          <a:ext cx="5374640" cy="33959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7322435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697590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0344524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052781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487676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0151676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668102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0161905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383343853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Global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871286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PC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Target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Local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Seltr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09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01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rgbClr val="C00000"/>
                          </a:solidFill>
                          <a:latin typeface="+mn-lt"/>
                        </a:rPr>
                        <a:t>4001c4</a:t>
                      </a:r>
                      <a:endParaRPr lang="en-US" sz="1400" b="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6600"/>
                          </a:solidFill>
                          <a:latin typeface="+mn-lt"/>
                        </a:rPr>
                        <a:t>4202b0</a:t>
                      </a:r>
                      <a:endParaRPr lang="en-US" sz="1400" b="1" dirty="0">
                        <a:solidFill>
                          <a:srgbClr val="0066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strike="noStrike" baseline="0" dirty="0" smtClean="0">
                          <a:solidFill>
                            <a:srgbClr val="C00000"/>
                          </a:solidFill>
                          <a:latin typeface="+mn-lt"/>
                        </a:rPr>
                        <a:t>00</a:t>
                      </a:r>
                      <a:endParaRPr lang="en-US" sz="1400" b="0" strike="noStrike" baseline="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trike="dblStrike" baseline="0" dirty="0" smtClean="0">
                          <a:solidFill>
                            <a:srgbClr val="C00000"/>
                          </a:solidFill>
                          <a:latin typeface="+mn-lt"/>
                        </a:rPr>
                        <a:t>11</a:t>
                      </a:r>
                      <a:r>
                        <a:rPr lang="en-US" sz="1400" b="1" dirty="0" smtClean="0">
                          <a:solidFill>
                            <a:srgbClr val="C00000"/>
                          </a:solidFill>
                          <a:latin typeface="+mn-lt"/>
                        </a:rPr>
                        <a:t>10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strike="dblStrik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01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1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16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93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07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Global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History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53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strike="dblStrik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en-US" sz="1400" b="0" dirty="0" smtClean="0">
                          <a:solidFill>
                            <a:srgbClr val="C00000"/>
                          </a:solidFill>
                          <a:latin typeface="+mn-lt"/>
                        </a:rPr>
                        <a:t>0</a:t>
                      </a:r>
                      <a:endParaRPr lang="en-US" sz="1400" b="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519385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8305800" y="4191000"/>
            <a:ext cx="3622914" cy="2468562"/>
            <a:chOff x="1295400" y="1938507"/>
            <a:chExt cx="6629400" cy="4034526"/>
          </a:xfrm>
        </p:grpSpPr>
        <p:cxnSp>
          <p:nvCxnSpPr>
            <p:cNvPr id="6" name="Straight Arrow Connector 5"/>
            <p:cNvCxnSpPr/>
            <p:nvPr/>
          </p:nvCxnSpPr>
          <p:spPr bwMode="auto">
            <a:xfrm flipV="1">
              <a:off x="2286000" y="3810000"/>
              <a:ext cx="0" cy="28015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Straight Arrow Connector 6"/>
            <p:cNvCxnSpPr/>
            <p:nvPr/>
          </p:nvCxnSpPr>
          <p:spPr bwMode="auto">
            <a:xfrm flipV="1">
              <a:off x="7162800" y="3746820"/>
              <a:ext cx="0" cy="392823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/>
            <p:cNvCxnSpPr/>
            <p:nvPr/>
          </p:nvCxnSpPr>
          <p:spPr bwMode="auto">
            <a:xfrm flipV="1">
              <a:off x="3105665" y="3746820"/>
              <a:ext cx="0" cy="392823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" name="Straight Arrow Connector 8"/>
            <p:cNvCxnSpPr/>
            <p:nvPr/>
          </p:nvCxnSpPr>
          <p:spPr bwMode="auto">
            <a:xfrm flipV="1">
              <a:off x="6248400" y="3746820"/>
              <a:ext cx="0" cy="392823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0" name="Straight Arrow Connector 9"/>
            <p:cNvCxnSpPr/>
            <p:nvPr/>
          </p:nvCxnSpPr>
          <p:spPr bwMode="auto">
            <a:xfrm>
              <a:off x="3733800" y="4495800"/>
              <a:ext cx="175260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Straight Arrow Connector 10"/>
            <p:cNvCxnSpPr/>
            <p:nvPr/>
          </p:nvCxnSpPr>
          <p:spPr bwMode="auto">
            <a:xfrm flipH="1">
              <a:off x="3810000" y="4800600"/>
              <a:ext cx="1752600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1852484" y="3843666"/>
              <a:ext cx="1838455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1/0            0/1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34017" y="4210275"/>
              <a:ext cx="895351" cy="93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700" dirty="0">
                  <a:latin typeface="+mn-lt"/>
                </a:rPr>
                <a:t>0/1</a:t>
              </a:r>
            </a:p>
            <a:p>
              <a:pPr>
                <a:spcAft>
                  <a:spcPts val="600"/>
                </a:spcAft>
              </a:pPr>
              <a:endParaRPr lang="en-US" sz="700" dirty="0">
                <a:latin typeface="+mn-lt"/>
              </a:endParaRPr>
            </a:p>
            <a:p>
              <a:pPr>
                <a:spcAft>
                  <a:spcPts val="600"/>
                </a:spcAft>
              </a:pPr>
              <a:r>
                <a:rPr lang="en-US" sz="700" dirty="0">
                  <a:latin typeface="+mn-lt"/>
                </a:rPr>
                <a:t>1/0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09799" y="5562600"/>
              <a:ext cx="1371599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0/0, 1/1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976050" y="2310843"/>
              <a:ext cx="1376748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0/0, 1/0, 1/1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842045" y="3803395"/>
              <a:ext cx="1838455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1/0              0/1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63088" y="5546124"/>
              <a:ext cx="1371599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0/0, 1/1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29339" y="2294367"/>
              <a:ext cx="1376748" cy="326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+mn-lt"/>
                </a:rPr>
                <a:t>0/0, 0/1, 1/1</a:t>
              </a: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1958065" y="1984798"/>
              <a:ext cx="1120827" cy="755711"/>
            </a:xfrm>
            <a:custGeom>
              <a:avLst/>
              <a:gdLst>
                <a:gd name="connsiteX0" fmla="*/ 0 w 1120827"/>
                <a:gd name="connsiteY0" fmla="*/ 733641 h 755711"/>
                <a:gd name="connsiteX1" fmla="*/ 140043 w 1120827"/>
                <a:gd name="connsiteY1" fmla="*/ 214658 h 755711"/>
                <a:gd name="connsiteX2" fmla="*/ 584887 w 1120827"/>
                <a:gd name="connsiteY2" fmla="*/ 474 h 755711"/>
                <a:gd name="connsiteX3" fmla="*/ 1021492 w 1120827"/>
                <a:gd name="connsiteY3" fmla="*/ 264085 h 755711"/>
                <a:gd name="connsiteX4" fmla="*/ 1112108 w 1120827"/>
                <a:gd name="connsiteY4" fmla="*/ 717166 h 755711"/>
                <a:gd name="connsiteX5" fmla="*/ 1112108 w 1120827"/>
                <a:gd name="connsiteY5" fmla="*/ 700690 h 75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27" h="755711">
                  <a:moveTo>
                    <a:pt x="0" y="733641"/>
                  </a:moveTo>
                  <a:cubicBezTo>
                    <a:pt x="21281" y="535246"/>
                    <a:pt x="42562" y="336852"/>
                    <a:pt x="140043" y="214658"/>
                  </a:cubicBezTo>
                  <a:cubicBezTo>
                    <a:pt x="237524" y="92464"/>
                    <a:pt x="437979" y="-7764"/>
                    <a:pt x="584887" y="474"/>
                  </a:cubicBezTo>
                  <a:cubicBezTo>
                    <a:pt x="731795" y="8712"/>
                    <a:pt x="933622" y="144636"/>
                    <a:pt x="1021492" y="264085"/>
                  </a:cubicBezTo>
                  <a:cubicBezTo>
                    <a:pt x="1109362" y="383534"/>
                    <a:pt x="1097005" y="644399"/>
                    <a:pt x="1112108" y="717166"/>
                  </a:cubicBezTo>
                  <a:cubicBezTo>
                    <a:pt x="1127211" y="789933"/>
                    <a:pt x="1119659" y="745311"/>
                    <a:pt x="1112108" y="700690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6128790" y="1938507"/>
              <a:ext cx="1120827" cy="755711"/>
            </a:xfrm>
            <a:custGeom>
              <a:avLst/>
              <a:gdLst>
                <a:gd name="connsiteX0" fmla="*/ 0 w 1120827"/>
                <a:gd name="connsiteY0" fmla="*/ 733641 h 755711"/>
                <a:gd name="connsiteX1" fmla="*/ 140043 w 1120827"/>
                <a:gd name="connsiteY1" fmla="*/ 214658 h 755711"/>
                <a:gd name="connsiteX2" fmla="*/ 584887 w 1120827"/>
                <a:gd name="connsiteY2" fmla="*/ 474 h 755711"/>
                <a:gd name="connsiteX3" fmla="*/ 1021492 w 1120827"/>
                <a:gd name="connsiteY3" fmla="*/ 264085 h 755711"/>
                <a:gd name="connsiteX4" fmla="*/ 1112108 w 1120827"/>
                <a:gd name="connsiteY4" fmla="*/ 717166 h 755711"/>
                <a:gd name="connsiteX5" fmla="*/ 1112108 w 1120827"/>
                <a:gd name="connsiteY5" fmla="*/ 700690 h 75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27" h="755711">
                  <a:moveTo>
                    <a:pt x="0" y="733641"/>
                  </a:moveTo>
                  <a:cubicBezTo>
                    <a:pt x="21281" y="535246"/>
                    <a:pt x="42562" y="336852"/>
                    <a:pt x="140043" y="214658"/>
                  </a:cubicBezTo>
                  <a:cubicBezTo>
                    <a:pt x="237524" y="92464"/>
                    <a:pt x="437979" y="-7764"/>
                    <a:pt x="584887" y="474"/>
                  </a:cubicBezTo>
                  <a:cubicBezTo>
                    <a:pt x="731795" y="8712"/>
                    <a:pt x="933622" y="144636"/>
                    <a:pt x="1021492" y="264085"/>
                  </a:cubicBezTo>
                  <a:cubicBezTo>
                    <a:pt x="1109362" y="383534"/>
                    <a:pt x="1097005" y="644399"/>
                    <a:pt x="1112108" y="717166"/>
                  </a:cubicBezTo>
                  <a:cubicBezTo>
                    <a:pt x="1127211" y="789933"/>
                    <a:pt x="1119659" y="745311"/>
                    <a:pt x="1112108" y="700690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1996487" y="5206314"/>
              <a:ext cx="1109178" cy="766719"/>
            </a:xfrm>
            <a:custGeom>
              <a:avLst/>
              <a:gdLst>
                <a:gd name="connsiteX0" fmla="*/ 5308 w 1109178"/>
                <a:gd name="connsiteY0" fmla="*/ 0 h 766719"/>
                <a:gd name="connsiteX1" fmla="*/ 79448 w 1109178"/>
                <a:gd name="connsiteY1" fmla="*/ 444843 h 766719"/>
                <a:gd name="connsiteX2" fmla="*/ 557243 w 1109178"/>
                <a:gd name="connsiteY2" fmla="*/ 766118 h 766719"/>
                <a:gd name="connsiteX3" fmla="*/ 985610 w 1109178"/>
                <a:gd name="connsiteY3" fmla="*/ 510745 h 766719"/>
                <a:gd name="connsiteX4" fmla="*/ 1109178 w 1109178"/>
                <a:gd name="connsiteY4" fmla="*/ 16475 h 76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9178" h="766719">
                  <a:moveTo>
                    <a:pt x="5308" y="0"/>
                  </a:moveTo>
                  <a:cubicBezTo>
                    <a:pt x="-3617" y="158578"/>
                    <a:pt x="-12541" y="317157"/>
                    <a:pt x="79448" y="444843"/>
                  </a:cubicBezTo>
                  <a:cubicBezTo>
                    <a:pt x="171437" y="572529"/>
                    <a:pt x="406216" y="755134"/>
                    <a:pt x="557243" y="766118"/>
                  </a:cubicBezTo>
                  <a:cubicBezTo>
                    <a:pt x="708270" y="777102"/>
                    <a:pt x="893621" y="635685"/>
                    <a:pt x="985610" y="510745"/>
                  </a:cubicBezTo>
                  <a:cubicBezTo>
                    <a:pt x="1077599" y="385805"/>
                    <a:pt x="1093388" y="201140"/>
                    <a:pt x="1109178" y="16475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6140439" y="5206313"/>
              <a:ext cx="1109178" cy="766719"/>
            </a:xfrm>
            <a:custGeom>
              <a:avLst/>
              <a:gdLst>
                <a:gd name="connsiteX0" fmla="*/ 5308 w 1109178"/>
                <a:gd name="connsiteY0" fmla="*/ 0 h 766719"/>
                <a:gd name="connsiteX1" fmla="*/ 79448 w 1109178"/>
                <a:gd name="connsiteY1" fmla="*/ 444843 h 766719"/>
                <a:gd name="connsiteX2" fmla="*/ 557243 w 1109178"/>
                <a:gd name="connsiteY2" fmla="*/ 766118 h 766719"/>
                <a:gd name="connsiteX3" fmla="*/ 985610 w 1109178"/>
                <a:gd name="connsiteY3" fmla="*/ 510745 h 766719"/>
                <a:gd name="connsiteX4" fmla="*/ 1109178 w 1109178"/>
                <a:gd name="connsiteY4" fmla="*/ 16475 h 76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9178" h="766719">
                  <a:moveTo>
                    <a:pt x="5308" y="0"/>
                  </a:moveTo>
                  <a:cubicBezTo>
                    <a:pt x="-3617" y="158578"/>
                    <a:pt x="-12541" y="317157"/>
                    <a:pt x="79448" y="444843"/>
                  </a:cubicBezTo>
                  <a:cubicBezTo>
                    <a:pt x="171437" y="572529"/>
                    <a:pt x="406216" y="755134"/>
                    <a:pt x="557243" y="766118"/>
                  </a:cubicBezTo>
                  <a:cubicBezTo>
                    <a:pt x="708270" y="777102"/>
                    <a:pt x="893621" y="635685"/>
                    <a:pt x="985610" y="510745"/>
                  </a:cubicBezTo>
                  <a:cubicBezTo>
                    <a:pt x="1077599" y="385805"/>
                    <a:pt x="1093388" y="201140"/>
                    <a:pt x="1109178" y="16475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3" name="Oval 22"/>
            <p:cNvSpPr/>
            <p:nvPr/>
          </p:nvSpPr>
          <p:spPr bwMode="auto">
            <a:xfrm>
              <a:off x="1295400" y="2615643"/>
              <a:ext cx="2514601" cy="1194357"/>
            </a:xfrm>
            <a:prstGeom prst="ellipse">
              <a:avLst/>
            </a:prstGeom>
            <a:solidFill>
              <a:srgbClr val="FF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100" dirty="0">
                  <a:latin typeface="+mn-lt"/>
                </a:rPr>
                <a:t>Use Non-correlator (11)</a:t>
              </a: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1295400" y="4090151"/>
              <a:ext cx="2514600" cy="1194357"/>
            </a:xfrm>
            <a:prstGeom prst="ellipse">
              <a:avLst/>
            </a:prstGeom>
            <a:solidFill>
              <a:srgbClr val="FF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100" dirty="0">
                  <a:latin typeface="+mn-lt"/>
                </a:rPr>
                <a:t>Use Non-correlator (10)</a:t>
              </a: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5410200" y="2578572"/>
              <a:ext cx="2514600" cy="119435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100" dirty="0">
                  <a:latin typeface="+mn-lt"/>
                </a:rPr>
                <a:t>Use Correlator (00)</a:t>
              </a:r>
            </a:p>
          </p:txBody>
        </p:sp>
        <p:sp>
          <p:nvSpPr>
            <p:cNvPr id="26" name="Oval 25"/>
            <p:cNvSpPr/>
            <p:nvPr/>
          </p:nvSpPr>
          <p:spPr bwMode="auto">
            <a:xfrm>
              <a:off x="5410200" y="4090151"/>
              <a:ext cx="2514600" cy="119435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100" dirty="0">
                  <a:latin typeface="+mn-lt"/>
                </a:rPr>
                <a:t>Use Correlator (01)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372258" y="3851835"/>
            <a:ext cx="4419600" cy="2532142"/>
            <a:chOff x="1828800" y="2819400"/>
            <a:chExt cx="6248400" cy="3606384"/>
          </a:xfrm>
        </p:grpSpPr>
        <p:sp>
          <p:nvSpPr>
            <p:cNvPr id="28" name="Oval 35"/>
            <p:cNvSpPr>
              <a:spLocks noChangeArrowheads="1"/>
            </p:cNvSpPr>
            <p:nvPr/>
          </p:nvSpPr>
          <p:spPr bwMode="auto">
            <a:xfrm>
              <a:off x="2362200" y="3048000"/>
              <a:ext cx="1066800" cy="990600"/>
            </a:xfrm>
            <a:prstGeom prst="ellipse">
              <a:avLst/>
            </a:prstGeom>
            <a:solidFill>
              <a:schemeClr val="bg1"/>
            </a:solidFill>
            <a:ln w="38100" cap="rnd">
              <a:solidFill>
                <a:srgbClr val="0066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2520950" y="2952750"/>
              <a:ext cx="1588" cy="1588"/>
            </a:xfrm>
            <a:prstGeom prst="rect">
              <a:avLst/>
            </a:prstGeom>
            <a:solidFill>
              <a:srgbClr val="FFFFFF"/>
            </a:solidFill>
            <a:ln w="12700" cmpd="tri">
              <a:noFill/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2520950" y="2952750"/>
              <a:ext cx="1588" cy="1588"/>
            </a:xfrm>
            <a:prstGeom prst="rect">
              <a:avLst/>
            </a:prstGeom>
            <a:solidFill>
              <a:srgbClr val="FFFFFF"/>
            </a:solidFill>
            <a:ln w="12700" cmpd="tri">
              <a:noFill/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1" name="Rectangle 22"/>
            <p:cNvSpPr>
              <a:spLocks noChangeArrowheads="1"/>
            </p:cNvSpPr>
            <p:nvPr/>
          </p:nvSpPr>
          <p:spPr bwMode="auto">
            <a:xfrm>
              <a:off x="2520950" y="2952750"/>
              <a:ext cx="1588" cy="1588"/>
            </a:xfrm>
            <a:prstGeom prst="rect">
              <a:avLst/>
            </a:prstGeom>
            <a:solidFill>
              <a:srgbClr val="FFFFFF"/>
            </a:solidFill>
            <a:ln w="12700" cmpd="tri">
              <a:noFill/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2" name="Rectangle 24"/>
            <p:cNvSpPr>
              <a:spLocks noChangeArrowheads="1"/>
            </p:cNvSpPr>
            <p:nvPr/>
          </p:nvSpPr>
          <p:spPr bwMode="auto">
            <a:xfrm>
              <a:off x="2520950" y="2952750"/>
              <a:ext cx="1588" cy="1588"/>
            </a:xfrm>
            <a:prstGeom prst="rect">
              <a:avLst/>
            </a:prstGeom>
            <a:solidFill>
              <a:srgbClr val="FFFFFF"/>
            </a:solidFill>
            <a:ln w="12700" cmpd="tri">
              <a:noFill/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1981200" y="3429000"/>
              <a:ext cx="1828800" cy="990600"/>
            </a:xfrm>
            <a:prstGeom prst="ellipse">
              <a:avLst/>
            </a:prstGeom>
            <a:solidFill>
              <a:srgbClr val="9AE69A"/>
            </a:soli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2057400" y="3505200"/>
              <a:ext cx="1676400" cy="832861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dirty="0">
                  <a:solidFill>
                    <a:srgbClr val="003300"/>
                  </a:solidFill>
                </a:rPr>
                <a:t>Predicted Taken (11)</a:t>
              </a: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auto">
            <a:xfrm>
              <a:off x="3124201" y="2819400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rgbClr val="006600"/>
                  </a:solidFill>
                </a:rPr>
                <a:t>Taken</a:t>
              </a: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3733800" y="3733800"/>
              <a:ext cx="19050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" name="Text Box 38"/>
            <p:cNvSpPr txBox="1">
              <a:spLocks noChangeArrowheads="1"/>
            </p:cNvSpPr>
            <p:nvPr/>
          </p:nvSpPr>
          <p:spPr bwMode="auto">
            <a:xfrm>
              <a:off x="3810001" y="3276599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chemeClr val="hlink"/>
                  </a:solidFill>
                </a:rPr>
                <a:t>Not taken</a:t>
              </a:r>
            </a:p>
          </p:txBody>
        </p:sp>
        <p:sp>
          <p:nvSpPr>
            <p:cNvPr id="38" name="Oval 39"/>
            <p:cNvSpPr>
              <a:spLocks noChangeArrowheads="1"/>
            </p:cNvSpPr>
            <p:nvPr/>
          </p:nvSpPr>
          <p:spPr bwMode="auto">
            <a:xfrm>
              <a:off x="5562600" y="3429000"/>
              <a:ext cx="1828800" cy="990600"/>
            </a:xfrm>
            <a:prstGeom prst="ellipse">
              <a:avLst/>
            </a:prstGeom>
            <a:solidFill>
              <a:srgbClr val="9AE69A"/>
            </a:soli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9" name="Text Box 40"/>
            <p:cNvSpPr txBox="1">
              <a:spLocks noChangeArrowheads="1"/>
            </p:cNvSpPr>
            <p:nvPr/>
          </p:nvSpPr>
          <p:spPr bwMode="auto">
            <a:xfrm>
              <a:off x="5638801" y="3505200"/>
              <a:ext cx="1676400" cy="832861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dirty="0">
                  <a:solidFill>
                    <a:srgbClr val="003300"/>
                  </a:solidFill>
                </a:rPr>
                <a:t>Predicted Taken (10)</a:t>
              </a: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3733800" y="4114800"/>
              <a:ext cx="190500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 Box 42"/>
            <p:cNvSpPr txBox="1">
              <a:spLocks noChangeArrowheads="1"/>
            </p:cNvSpPr>
            <p:nvPr/>
          </p:nvSpPr>
          <p:spPr bwMode="auto">
            <a:xfrm>
              <a:off x="3962400" y="4038600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rgbClr val="006600"/>
                  </a:solidFill>
                </a:rPr>
                <a:t>Taken</a:t>
              </a:r>
            </a:p>
          </p:txBody>
        </p:sp>
        <p:sp>
          <p:nvSpPr>
            <p:cNvPr id="42" name="Oval 43"/>
            <p:cNvSpPr>
              <a:spLocks noChangeArrowheads="1"/>
            </p:cNvSpPr>
            <p:nvPr/>
          </p:nvSpPr>
          <p:spPr bwMode="auto">
            <a:xfrm>
              <a:off x="6019800" y="5410200"/>
              <a:ext cx="1066800" cy="990600"/>
            </a:xfrm>
            <a:prstGeom prst="ellipse">
              <a:avLst/>
            </a:prstGeom>
            <a:solidFill>
              <a:schemeClr val="bg1"/>
            </a:solidFill>
            <a:ln w="38100" cap="rnd">
              <a:solidFill>
                <a:schemeClr val="hlink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3" name="Oval 44"/>
            <p:cNvSpPr>
              <a:spLocks noChangeArrowheads="1"/>
            </p:cNvSpPr>
            <p:nvPr/>
          </p:nvSpPr>
          <p:spPr bwMode="auto">
            <a:xfrm>
              <a:off x="1981200" y="4953000"/>
              <a:ext cx="1828800" cy="990600"/>
            </a:xfrm>
            <a:prstGeom prst="ellipse">
              <a:avLst/>
            </a:prstGeom>
            <a:solidFill>
              <a:srgbClr val="FFC3CD"/>
            </a:solidFill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4" name="Text Box 45"/>
            <p:cNvSpPr txBox="1">
              <a:spLocks noChangeArrowheads="1"/>
            </p:cNvSpPr>
            <p:nvPr/>
          </p:nvSpPr>
          <p:spPr bwMode="auto">
            <a:xfrm>
              <a:off x="1828800" y="5105400"/>
              <a:ext cx="2133600" cy="832861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dirty="0"/>
                <a:t>Predicted (01) not Taken</a:t>
              </a:r>
            </a:p>
          </p:txBody>
        </p:sp>
        <p:sp>
          <p:nvSpPr>
            <p:cNvPr id="45" name="Text Box 46"/>
            <p:cNvSpPr txBox="1">
              <a:spLocks noChangeArrowheads="1"/>
            </p:cNvSpPr>
            <p:nvPr/>
          </p:nvSpPr>
          <p:spPr bwMode="auto">
            <a:xfrm>
              <a:off x="4800599" y="5943601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chemeClr val="hlink"/>
                  </a:solidFill>
                </a:rPr>
                <a:t>Not taken</a:t>
              </a: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3733800" y="5257800"/>
              <a:ext cx="1905000" cy="158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 Box 48"/>
            <p:cNvSpPr txBox="1">
              <a:spLocks noChangeArrowheads="1"/>
            </p:cNvSpPr>
            <p:nvPr/>
          </p:nvSpPr>
          <p:spPr bwMode="auto">
            <a:xfrm>
              <a:off x="3810001" y="4800600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chemeClr val="hlink"/>
                  </a:solidFill>
                </a:rPr>
                <a:t>Not taken</a:t>
              </a:r>
            </a:p>
          </p:txBody>
        </p:sp>
        <p:sp>
          <p:nvSpPr>
            <p:cNvPr id="48" name="Oval 49"/>
            <p:cNvSpPr>
              <a:spLocks noChangeArrowheads="1"/>
            </p:cNvSpPr>
            <p:nvPr/>
          </p:nvSpPr>
          <p:spPr bwMode="auto">
            <a:xfrm>
              <a:off x="5562600" y="4953000"/>
              <a:ext cx="1828800" cy="990600"/>
            </a:xfrm>
            <a:prstGeom prst="ellipse">
              <a:avLst/>
            </a:prstGeom>
            <a:solidFill>
              <a:srgbClr val="FFC3CD"/>
            </a:solidFill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9" name="Text Box 50"/>
            <p:cNvSpPr txBox="1">
              <a:spLocks noChangeArrowheads="1"/>
            </p:cNvSpPr>
            <p:nvPr/>
          </p:nvSpPr>
          <p:spPr bwMode="auto">
            <a:xfrm>
              <a:off x="5486400" y="5105400"/>
              <a:ext cx="1981201" cy="832861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dirty="0"/>
                <a:t>Predicted (00) not Taken</a:t>
              </a:r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3733800" y="5638800"/>
              <a:ext cx="1905000" cy="158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1" name="Text Box 52"/>
            <p:cNvSpPr txBox="1">
              <a:spLocks noChangeArrowheads="1"/>
            </p:cNvSpPr>
            <p:nvPr/>
          </p:nvSpPr>
          <p:spPr bwMode="auto">
            <a:xfrm>
              <a:off x="4038600" y="5562601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rgbClr val="006600"/>
                  </a:solidFill>
                </a:rPr>
                <a:t>Taken</a:t>
              </a:r>
            </a:p>
          </p:txBody>
        </p:sp>
        <p:sp>
          <p:nvSpPr>
            <p:cNvPr id="52" name="Line 54"/>
            <p:cNvSpPr>
              <a:spLocks noChangeShapeType="1"/>
            </p:cNvSpPr>
            <p:nvPr/>
          </p:nvSpPr>
          <p:spPr bwMode="auto">
            <a:xfrm>
              <a:off x="6477000" y="4419600"/>
              <a:ext cx="0" cy="5334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6477000" y="4419600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chemeClr val="hlink"/>
                  </a:solidFill>
                </a:rPr>
                <a:t>Not taken</a:t>
              </a:r>
            </a:p>
          </p:txBody>
        </p:sp>
        <p:sp>
          <p:nvSpPr>
            <p:cNvPr id="54" name="Line 56"/>
            <p:cNvSpPr>
              <a:spLocks noChangeShapeType="1"/>
            </p:cNvSpPr>
            <p:nvPr/>
          </p:nvSpPr>
          <p:spPr bwMode="auto">
            <a:xfrm>
              <a:off x="2895600" y="4419600"/>
              <a:ext cx="0" cy="53498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5" name="Text Box 57"/>
            <p:cNvSpPr txBox="1">
              <a:spLocks noChangeArrowheads="1"/>
            </p:cNvSpPr>
            <p:nvPr/>
          </p:nvSpPr>
          <p:spPr bwMode="auto">
            <a:xfrm>
              <a:off x="1905001" y="4495802"/>
              <a:ext cx="1600200" cy="482183"/>
            </a:xfrm>
            <a:prstGeom prst="rect">
              <a:avLst/>
            </a:prstGeom>
            <a:noFill/>
            <a:ln w="76200" cmpd="tri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 dirty="0">
                  <a:solidFill>
                    <a:srgbClr val="006600"/>
                  </a:solidFill>
                </a:rPr>
                <a:t>Taken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457200" y="1202861"/>
            <a:ext cx="53973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 err="1">
                <a:solidFill>
                  <a:srgbClr val="006600"/>
                </a:solidFill>
              </a:rPr>
              <a:t>Mispredicted</a:t>
            </a:r>
            <a:r>
              <a:rPr lang="en-US" altLang="en-US" b="1" dirty="0">
                <a:solidFill>
                  <a:srgbClr val="006600"/>
                </a:solidFill>
              </a:rPr>
              <a:t> branch</a:t>
            </a:r>
          </a:p>
          <a:p>
            <a:pPr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</a:rPr>
              <a:t>Update BTB: </a:t>
            </a:r>
            <a:endParaRPr lang="en-US" altLang="en-US" b="1" dirty="0" smtClean="0">
              <a:solidFill>
                <a:srgbClr val="FF0000"/>
              </a:solidFill>
            </a:endParaRPr>
          </a:p>
          <a:p>
            <a:pPr marL="112713">
              <a:spcBef>
                <a:spcPts val="0"/>
              </a:spcBef>
            </a:pPr>
            <a:r>
              <a:rPr lang="en-US" altLang="en-US" b="1" dirty="0" smtClean="0">
                <a:solidFill>
                  <a:srgbClr val="FF0000"/>
                </a:solidFill>
              </a:rPr>
              <a:t>- Predictors </a:t>
            </a:r>
          </a:p>
          <a:p>
            <a:pPr marL="112713">
              <a:spcBef>
                <a:spcPts val="0"/>
              </a:spcBef>
            </a:pPr>
            <a:r>
              <a:rPr lang="en-US" altLang="en-US" b="1" dirty="0" smtClean="0">
                <a:solidFill>
                  <a:srgbClr val="FF0000"/>
                </a:solidFill>
              </a:rPr>
              <a:t>- Selector </a:t>
            </a:r>
          </a:p>
          <a:p>
            <a:pPr marL="455613" indent="-342900">
              <a:spcBef>
                <a:spcPts val="0"/>
              </a:spcBef>
              <a:buFontTx/>
              <a:buChar char="-"/>
            </a:pPr>
            <a:r>
              <a:rPr lang="en-US" altLang="en-US" b="1" dirty="0" smtClean="0">
                <a:solidFill>
                  <a:srgbClr val="FF0000"/>
                </a:solidFill>
              </a:rPr>
              <a:t>Address </a:t>
            </a:r>
            <a:r>
              <a:rPr lang="en-US" altLang="en-US" b="1" dirty="0">
                <a:solidFill>
                  <a:srgbClr val="FF0000"/>
                </a:solidFill>
              </a:rPr>
              <a:t>if wrong target </a:t>
            </a:r>
            <a:r>
              <a:rPr lang="en-US" altLang="en-US" b="1" dirty="0" smtClean="0">
                <a:solidFill>
                  <a:srgbClr val="FF0000"/>
                </a:solidFill>
              </a:rPr>
              <a:t>address</a:t>
            </a:r>
          </a:p>
          <a:p>
            <a:pPr marL="112713">
              <a:spcBef>
                <a:spcPts val="0"/>
              </a:spcBef>
            </a:pPr>
            <a:r>
              <a:rPr lang="en-US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 smtClean="0">
                <a:solidFill>
                  <a:srgbClr val="FF0000"/>
                </a:solidFill>
              </a:rPr>
              <a:t>   </a:t>
            </a:r>
            <a:r>
              <a:rPr lang="en-US" altLang="en-US" b="1" dirty="0" err="1" smtClean="0">
                <a:solidFill>
                  <a:srgbClr val="FF0000"/>
                </a:solidFill>
              </a:rPr>
              <a:t>WrongAddress</a:t>
            </a:r>
            <a:r>
              <a:rPr lang="en-US" altLang="en-US" b="1" dirty="0" smtClean="0">
                <a:solidFill>
                  <a:srgbClr val="FF0000"/>
                </a:solidFill>
              </a:rPr>
              <a:t>=</a:t>
            </a:r>
            <a:r>
              <a:rPr lang="en-US" altLang="en-US" b="1" dirty="0" err="1" smtClean="0">
                <a:solidFill>
                  <a:srgbClr val="FF0000"/>
                </a:solidFill>
              </a:rPr>
              <a:t>WrongAddress</a:t>
            </a:r>
            <a:r>
              <a:rPr lang="en-US" altLang="en-US" b="1" dirty="0" smtClean="0">
                <a:solidFill>
                  <a:srgbClr val="FF0000"/>
                </a:solidFill>
              </a:rPr>
              <a:t> +1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52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Quantitative assessment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1828800"/>
            <a:ext cx="9601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Your report will include a quantitative assessment of this tournament branch predictor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Keep statistics of as many variables/issues that affect or assess the predictor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Number of: Hits, Misses, Right predictions, Wrong predictions, Wrong addresses, Collisions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How the CPI is affected by the predictor for a given benchmark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Compute CPI without predictor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Compute CPI with predictor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29699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2812</TotalTime>
  <Pages>53</Pages>
  <Words>677</Words>
  <Application>Microsoft Office PowerPoint</Application>
  <PresentationFormat>Widescreen</PresentationFormat>
  <Paragraphs>296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Times New Roman</vt:lpstr>
      <vt:lpstr>Default Design</vt:lpstr>
      <vt:lpstr>Tournament Branch Predictor</vt:lpstr>
      <vt:lpstr>Initialization</vt:lpstr>
      <vt:lpstr>Step 1 (stage IF)</vt:lpstr>
      <vt:lpstr>Step 2.A (ID stage –No found in BTB)</vt:lpstr>
      <vt:lpstr>Step 3.A (EX Stage)</vt:lpstr>
      <vt:lpstr>Step 1 (stage IF)</vt:lpstr>
      <vt:lpstr>Step 2.B (ID stage –BTB found)</vt:lpstr>
      <vt:lpstr>Step 3.B (EX)</vt:lpstr>
      <vt:lpstr>Step 1 (stage IF)</vt:lpstr>
      <vt:lpstr>Step 2.C (ID stage –BTB found)</vt:lpstr>
      <vt:lpstr>Step 3.C (EX)</vt:lpstr>
      <vt:lpstr>Quantitative assessment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prediction</dc:title>
  <dc:subject/>
  <dc:creator>Delgado-Frias Jose</dc:creator>
  <cp:keywords/>
  <dc:description/>
  <cp:lastModifiedBy>Delgado-Frias Jose</cp:lastModifiedBy>
  <cp:revision>107</cp:revision>
  <cp:lastPrinted>2019-10-28T17:28:26Z</cp:lastPrinted>
  <dcterms:created xsi:type="dcterms:W3CDTF">1996-09-04T07:14:34Z</dcterms:created>
  <dcterms:modified xsi:type="dcterms:W3CDTF">2019-10-28T17:28:27Z</dcterms:modified>
</cp:coreProperties>
</file>